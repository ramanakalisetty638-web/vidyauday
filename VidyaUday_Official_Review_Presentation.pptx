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1A81387-CAA0-B664-E5E7-652103F7464F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0203" y="297924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E228F4-F1C6-996C-1333-E77944D0112F}"/>
              </a:ext>
            </a:extLst>
          </p:cNvPr>
          <p:cNvSpPr txBox="1"/>
          <p:nvPr/>
        </p:nvSpPr>
        <p:spPr>
          <a:xfrm>
            <a:off x="7322713" y="5965777"/>
            <a:ext cx="42717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 of the Department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Dr. V. JYOTHI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Designation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Associate Professor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925BDB-B544-A468-80FA-5C328DABA918}"/>
              </a:ext>
            </a:extLst>
          </p:cNvPr>
          <p:cNvSpPr txBox="1"/>
          <p:nvPr/>
        </p:nvSpPr>
        <p:spPr>
          <a:xfrm>
            <a:off x="713696" y="5965777"/>
            <a:ext cx="67164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Coordinator :Dr .T .GOVINDH RAO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Designation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ASSISTANT PROFESSOR                           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39C9FE-9A55-D878-4113-BB45C8E42B25}"/>
              </a:ext>
            </a:extLst>
          </p:cNvPr>
          <p:cNvSpPr txBox="1"/>
          <p:nvPr/>
        </p:nvSpPr>
        <p:spPr>
          <a:xfrm>
            <a:off x="724153" y="5240594"/>
            <a:ext cx="47805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Guide Name : Mrs. G .LALITHA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Designation : ASSISTANT PROFESSOR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60522D6-D17F-C571-6E54-DC1EB5D4FD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1623335"/>
              </p:ext>
            </p:extLst>
          </p:nvPr>
        </p:nvGraphicFramePr>
        <p:xfrm>
          <a:off x="3211826" y="2833809"/>
          <a:ext cx="6246761" cy="211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5664">
                  <a:extLst>
                    <a:ext uri="{9D8B030D-6E8A-4147-A177-3AD203B41FA5}">
                      <a16:colId xmlns:a16="http://schemas.microsoft.com/office/drawing/2014/main" val="2978184859"/>
                    </a:ext>
                  </a:extLst>
                </a:gridCol>
                <a:gridCol w="2408903">
                  <a:extLst>
                    <a:ext uri="{9D8B030D-6E8A-4147-A177-3AD203B41FA5}">
                      <a16:colId xmlns:a16="http://schemas.microsoft.com/office/drawing/2014/main" val="2193938237"/>
                    </a:ext>
                  </a:extLst>
                </a:gridCol>
                <a:gridCol w="2802194">
                  <a:extLst>
                    <a:ext uri="{9D8B030D-6E8A-4147-A177-3AD203B41FA5}">
                      <a16:colId xmlns:a16="http://schemas.microsoft.com/office/drawing/2014/main" val="2017919128"/>
                    </a:ext>
                  </a:extLst>
                </a:gridCol>
              </a:tblGrid>
              <a:tr h="280548"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</a:t>
                      </a:r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S. No</a:t>
                      </a:r>
                      <a:endParaRPr lang="en-IN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Register Number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Student 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44809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24331A4726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KALISETTY CHARAN TEJA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5102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24331A4745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PANDI ABHINASH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9443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   24331A4720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GUMMIDI PUSPHA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9527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   24331A4752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 SYED MOHAIDEEN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687222"/>
                  </a:ext>
                </a:extLst>
              </a:tr>
            </a:tbl>
          </a:graphicData>
        </a:graphic>
      </p:graphicFrame>
      <p:sp>
        <p:nvSpPr>
          <p:cNvPr id="3" name="Subtitle 2">
            <a:extLst>
              <a:ext uri="{FF2B5EF4-FFF2-40B4-BE49-F238E27FC236}">
                <a16:creationId xmlns:a16="http://schemas.microsoft.com/office/drawing/2014/main" id="{B287393A-5152-2239-E68B-758F108442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5847" y="1982521"/>
            <a:ext cx="9144000" cy="798837"/>
          </a:xfrm>
        </p:spPr>
        <p:txBody>
          <a:bodyPr>
            <a:normAutofit fontScale="92500"/>
          </a:bodyPr>
          <a:lstStyle/>
          <a:p>
            <a:pPr algn="l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Title: VIDYA Uday – DIGITAL EMPOWERMENT AND AI AWARENESS</a:t>
            </a:r>
          </a:p>
          <a:p>
            <a:pPr algn="l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Batch Number:3  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D0BAEA-A6E1-3B7C-66B0-6AA9B41685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82663" y="56298"/>
            <a:ext cx="9518554" cy="814592"/>
          </a:xfrm>
        </p:spPr>
        <p:txBody>
          <a:bodyPr>
            <a:normAutofit fontScale="90000"/>
          </a:bodyPr>
          <a:lstStyle/>
          <a:p>
            <a: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Community Project </a:t>
            </a:r>
            <a:b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Branch: CSE-CYBERSECURITY &amp; INTERNET OF THINGS(ICB)</a:t>
            </a: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Department: Data Engineering </a:t>
            </a:r>
            <a:b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Semester: V    Section: A          Regulation: R24             Course Code: R24MSCSP001</a:t>
            </a: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Community Project </a:t>
            </a:r>
            <a:b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Branch: CSE-CYBERSECURITY &amp; INTERNET OF THINGS(ICB)</a:t>
            </a:r>
            <a:b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Department: Data Engineering </a:t>
            </a:r>
            <a:br>
              <a:rPr lang="en-IN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Semester: V    Section: A          Regulation: R24             Course Code: R24MSCSP001</a:t>
            </a:r>
            <a:endParaRPr lang="en-IN" sz="2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3E56905-97E0-B3F0-64B4-B47506A51B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Abstract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475569"/>
                </a:solidFill>
                <a:latin typeface="Times New Roman"/>
              </a:defRPr>
            </a:pPr>
            <a:r>
              <a:t>A concise overview of VidyaUday and its core purpose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886968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TextBox 9001"/>
          <p:cNvSpPr txBox="1"/>
          <p:nvPr/>
        </p:nvSpPr>
        <p:spPr>
          <a:xfrm>
            <a:off x="731520" y="1078992"/>
            <a:ext cx="1069848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2400" b="1">
                <a:solidFill>
                  <a:srgbClr val="C2410C"/>
                </a:solidFill>
                <a:latin typeface="Times New Roman"/>
              </a:defRPr>
            </a:pPr>
            <a:r>
              <a:t>Background</a:t>
            </a:r>
          </a:p>
          <a:p>
            <a:pPr algn="just">
              <a:spcAft>
                <a:spcPts val="4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Rural 10th and Intermediate students in Andhra Pradesh and Telangana face a severe guidance deficit, remaining largely unaware of higher education pathways, statutory government scholarships, and free AI learning tools.</a:t>
            </a:r>
          </a:p>
          <a:p>
            <a:pPr algn="just">
              <a:spcAft>
                <a:spcPts val="4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Essential academic information remains fragmented across dense government gazettes, English-dominant portals, and aggressive commercial coaching apps charging predatory fees.</a:t>
            </a:r>
          </a:p>
          <a:p>
            <a:pPr algn="l">
              <a:spcBef>
                <a:spcPts val="600"/>
              </a:spcBef>
              <a:spcAft>
                <a:spcPts val="200"/>
              </a:spcAft>
              <a:defRPr sz="2400" b="1">
                <a:solidFill>
                  <a:srgbClr val="C2410C"/>
                </a:solidFill>
                <a:latin typeface="Times New Roman"/>
              </a:defRPr>
            </a:pPr>
            <a:r>
              <a:t>Our Solution</a:t>
            </a:r>
          </a:p>
          <a:p>
            <a:pPr algn="just">
              <a:spcAft>
                <a:spcPts val="4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VidyaUday provides a 100% free, mobile-optimized, bilingual web platform requiring zero login, no app installation, and zero personal data collection.</a:t>
            </a:r>
          </a:p>
          <a:p>
            <a:pPr algn="just">
              <a:spcAft>
                <a:spcPts val="4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Integrates dual-state scholarship eligibility matching, interactive career roadmaps (MPC, BiPC, CEC, Polytechnic, ITI), SCERT digital textbooks, and a dedicated Digital Literacy &amp; Cyber Scam Buster Hub.</a:t>
            </a:r>
          </a:p>
          <a:p>
            <a:pPr algn="l">
              <a:spcBef>
                <a:spcPts val="600"/>
              </a:spcBef>
              <a:spcAft>
                <a:spcPts val="200"/>
              </a:spcAft>
              <a:defRPr sz="2400" b="1">
                <a:solidFill>
                  <a:srgbClr val="C2410C"/>
                </a:solidFill>
                <a:latin typeface="Times New Roman"/>
              </a:defRPr>
            </a:pPr>
            <a:r>
              <a:t>Expected Outcome</a:t>
            </a:r>
          </a:p>
          <a:p>
            <a:pPr algn="just">
              <a:spcAft>
                <a:spcPts val="4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Eliminates dependency on expensive cyber cafés, maximizes statutory scholarship claim rates across rural districts, and empowers first-generation learners with confident digital safety.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475569"/>
                </a:solidFill>
                <a:latin typeface="Times New Roman"/>
              </a:defRPr>
            </a:pPr>
            <a:r>
              <a:t>The challenge rural students face and what VidyaUday does about it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TextBox 9001"/>
          <p:cNvSpPr txBox="1"/>
          <p:nvPr/>
        </p:nvSpPr>
        <p:spPr>
          <a:xfrm>
            <a:off x="731520" y="1078992"/>
            <a:ext cx="1069848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2400" b="1">
                <a:solidFill>
                  <a:srgbClr val="1E3A8A"/>
                </a:solidFill>
                <a:latin typeface="Times New Roman"/>
              </a:defRPr>
            </a:pPr>
            <a:r>
              <a:t>The Growing Rural Challenge</a:t>
            </a:r>
          </a:p>
          <a:p>
            <a:pPr algn="just">
              <a:spcAft>
                <a:spcPts val="4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Over 12 lakh students complete 10th and Intermediate board exams annually across Andhra Pradesh and Telangana, yet rural students lack structured career mentoring and make life-defining decisions blindly.</a:t>
            </a:r>
          </a:p>
          <a:p>
            <a:pPr algn="just">
              <a:spcAft>
                <a:spcPts val="4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Commercial coaching institutes exploit this vacuum by charging exorbitant fees (₹25,000–₹50,000), leaving economically disadvantaged rural students behind.</a:t>
            </a:r>
          </a:p>
          <a:p>
            <a:pPr algn="l">
              <a:spcBef>
                <a:spcPts val="600"/>
              </a:spcBef>
              <a:spcAft>
                <a:spcPts val="200"/>
              </a:spcAft>
              <a:defRPr sz="2400" b="1">
                <a:solidFill>
                  <a:srgbClr val="1E3A8A"/>
                </a:solidFill>
                <a:latin typeface="Times New Roman"/>
              </a:defRPr>
            </a:pPr>
            <a:r>
              <a:t>The Information &amp; Language Barrier</a:t>
            </a:r>
          </a:p>
          <a:p>
            <a:pPr algn="just">
              <a:spcAft>
                <a:spcPts val="4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While excellent government welfare schemes and digital resources exist, they are scattered across fragmented portals in complex English without vernacular guidance.</a:t>
            </a:r>
          </a:p>
          <a:p>
            <a:pPr algn="just">
              <a:spcAft>
                <a:spcPts val="4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Rural students frequently miss application deadlines for fully funded government scholarships due to procedural obscurity and lack of digital awareness.</a:t>
            </a:r>
          </a:p>
          <a:p>
            <a:pPr algn="l">
              <a:spcBef>
                <a:spcPts val="600"/>
              </a:spcBef>
              <a:spcAft>
                <a:spcPts val="200"/>
              </a:spcAft>
              <a:defRPr sz="2400" b="1">
                <a:solidFill>
                  <a:srgbClr val="1E3A8A"/>
                </a:solidFill>
                <a:latin typeface="Times New Roman"/>
              </a:defRPr>
            </a:pPr>
            <a:r>
              <a:t>Our Platform: VidyaUday</a:t>
            </a:r>
          </a:p>
          <a:p>
            <a:pPr algn="just">
              <a:spcAft>
                <a:spcPts val="4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VidyaUday bridges this digital divide as a lightweight, bilingual (English &amp; Telugu) portal uniting career paths, scholarship finders, AI study prompts, and cyber safety tools under one roof.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Problem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475569"/>
                </a:solidFill>
                <a:latin typeface="Times New Roman"/>
              </a:defRPr>
            </a:pPr>
            <a:r>
              <a:t>Rural students are not short on ability — they are short on access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TextBox 9001"/>
          <p:cNvSpPr txBox="1"/>
          <p:nvPr/>
        </p:nvSpPr>
        <p:spPr>
          <a:xfrm>
            <a:off x="731520" y="1078992"/>
            <a:ext cx="1069848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C2410C"/>
                </a:solidFill>
                <a:latin typeface="Times New Roman"/>
              </a:defRPr>
            </a:pPr>
            <a:r>
              <a:t>Core Problem Statement</a:t>
            </a:r>
          </a:p>
          <a:p>
            <a:pPr algn="just">
              <a:spcAft>
                <a:spcPts val="1200"/>
              </a:spcAft>
              <a:defRPr sz="2200">
                <a:solidFill>
                  <a:srgbClr val="1E293B"/>
                </a:solidFill>
                <a:latin typeface="Times New Roman"/>
              </a:defRPr>
            </a:pPr>
            <a:r>
              <a:t>Lakhs of rural 10th and Intermediate students in Andhra Pradesh and Telangana face a severe guidance deficit, making critical educational and career decisions blindly without awareness of statutory government scholarships, digital learning platforms, or modern technology tools. Fragmented government notifications, dense English-only web portals, and aggressive commercial coaching traps systematically disenfranchise first-generation rural learners.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2400" b="1">
                <a:solidFill>
                  <a:srgbClr val="C2410C"/>
                </a:solidFill>
                <a:latin typeface="Times New Roman"/>
              </a:defRPr>
            </a:pPr>
            <a:r>
              <a:t>Key Pain Points Identified in Rural Field Survey</a:t>
            </a:r>
          </a:p>
          <a:p>
            <a:pPr algn="just">
              <a:spcAft>
                <a:spcPts val="5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Information Asymmetry: 74.2% of surveyed rural students are unaware of viable career alternatives beyond traditional MPC/BiPC streams.</a:t>
            </a:r>
          </a:p>
          <a:p>
            <a:pPr algn="just">
              <a:spcAft>
                <a:spcPts val="5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Unclaimed Welfare Aid: Over ₹50,000 per student in statutory government scholarships remains unclaimed annually due to lack of deadline visibility.</a:t>
            </a:r>
          </a:p>
          <a:p>
            <a:pPr algn="just">
              <a:spcAft>
                <a:spcPts val="5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The Digital Divide: 81.5% of students have never utilized free educational AI tools or cyber hygiene practices for academic advancement.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Project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475569"/>
                </a:solidFill>
                <a:latin typeface="Times New Roman"/>
              </a:defRPr>
            </a:pPr>
            <a:r>
              <a:t>Five clear goals that define what VidyaUday sets out to achieve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TextBox 9001"/>
          <p:cNvSpPr txBox="1"/>
          <p:nvPr/>
        </p:nvSpPr>
        <p:spPr>
          <a:xfrm>
            <a:off x="731520" y="1078992"/>
            <a:ext cx="1069848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2400" b="1">
                <a:solidFill>
                  <a:srgbClr val="1E3A8A"/>
                </a:solidFill>
                <a:latin typeface="Times New Roman"/>
              </a:defRPr>
            </a:pPr>
            <a:r>
              <a:t>Strategic Project Objectives</a:t>
            </a:r>
          </a:p>
          <a:p>
            <a:pPr algn="just">
              <a:spcAft>
                <a:spcPts val="6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Bilingual Career Guidance: Provide structured, year-by-year career path navigators for 10th and Intermediate streams (MPC, BiPC, CEC, MEC, Polytechnic, ITI) in English and Telugu.</a:t>
            </a:r>
          </a:p>
          <a:p>
            <a:pPr algn="just">
              <a:spcAft>
                <a:spcPts val="6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Centralized Scholarship Discovery: Streamline statutory Central and State schemes (AP JVD, TS ePASS, NMMS, Pragati) with instant dual-state eligibility matching and deadline tracking.</a:t>
            </a:r>
          </a:p>
          <a:p>
            <a:pPr algn="just">
              <a:spcAft>
                <a:spcPts val="6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Democratize Educational AI: Curate high-impact, 1-click copyable AI study prompts enabling rural students to leverage Gemini and ChatGPT for mathematics, essays, and vernacular explanations.</a:t>
            </a:r>
          </a:p>
          <a:p>
            <a:pPr algn="just">
              <a:spcAft>
                <a:spcPts val="6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Cyber Literacy &amp; Scam Prevention: Equip rural first-generation digital users with cyber safety rules, digital readiness self-assessments, and official 1930 cybercrime reporting guidance.</a:t>
            </a:r>
          </a:p>
          <a:p>
            <a:pPr algn="just">
              <a:spcAft>
                <a:spcPts val="6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Zero-Barrier Universal Access: Deliver an ultra-lightweight, ad-free web platform that operates smoothly on low-cost smartphones and 3G networks without requiring registration or logins.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Project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475569"/>
                </a:solidFill>
                <a:latin typeface="Times New Roman"/>
              </a:defRPr>
            </a:pPr>
            <a:r>
              <a:t>What VidyaUday includes — and what it deliberately does not cover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TextBox 9001"/>
          <p:cNvSpPr txBox="1"/>
          <p:nvPr/>
        </p:nvSpPr>
        <p:spPr>
          <a:xfrm>
            <a:off x="731520" y="1078992"/>
            <a:ext cx="1069848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2400" b="1">
                <a:solidFill>
                  <a:srgbClr val="C2410C"/>
                </a:solidFill>
                <a:latin typeface="Times New Roman"/>
              </a:defRPr>
            </a:pPr>
            <a:r>
              <a:t>In-Scope (Platform Capabilities)</a:t>
            </a:r>
          </a:p>
          <a:p>
            <a:pPr algn="just">
              <a:spcAft>
                <a:spcPts val="5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Target Audience: Comprehensive coverage tailored specifically for rural 10th (SSC), Intermediate (+2), Diploma/Polytechnic, and ITI students across Andhra Pradesh and Telangana.</a:t>
            </a:r>
          </a:p>
          <a:p>
            <a:pPr algn="just">
              <a:spcAft>
                <a:spcPts val="5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Functional Modules: Integrated Career Roadmap Explorer, AP/TS Dual Eligibility Scholarship Matcher, Scheme Comparison Matrix, SCERT Textbook Hub, AI Prompts, and Digital Scam Buster.</a:t>
            </a:r>
          </a:p>
          <a:p>
            <a:pPr algn="just">
              <a:spcAft>
                <a:spcPts val="5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Accessibility &amp; Reach: 100% responsive design optimized for entry-level mobile devices, offline study pack downloads, and bilingual English-Telugu synthesized voice assistance.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2400" b="1">
                <a:solidFill>
                  <a:srgbClr val="C2410C"/>
                </a:solidFill>
                <a:latin typeface="Times New Roman"/>
              </a:defRPr>
            </a:pPr>
            <a:r>
              <a:t>Out-of-Scope (Deliberate Design Boundaries)</a:t>
            </a:r>
          </a:p>
          <a:p>
            <a:pPr algn="just">
              <a:spcAft>
                <a:spcPts val="5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Not a Classroom Replacement: Designed strictly as an informational and career guidance bridge, not as a substitute for classroom teachers, curricula, or formal school instruction.</a:t>
            </a:r>
          </a:p>
          <a:p>
            <a:pPr algn="just">
              <a:spcAft>
                <a:spcPts val="5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No Direct Financial Transactions: Does not disburse scholarship funds or collect banking credentials; directly redirects students to official government portals (NSP, ePASS).</a:t>
            </a:r>
          </a:p>
          <a:p>
            <a:pPr algn="just">
              <a:spcAft>
                <a:spcPts val="5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Zero Backend Data Harvesting: Operates purely client-side without storing user personal data, phone numbers, or passwords, ensuring complete student privacy.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Literature Review / Background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475569"/>
                </a:solidFill>
                <a:latin typeface="Times New Roman"/>
              </a:defRPr>
            </a:pPr>
            <a:r>
              <a:t>Existing platforms and why they fall short for rural students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TextBox 9001"/>
          <p:cNvSpPr txBox="1"/>
          <p:nvPr/>
        </p:nvSpPr>
        <p:spPr>
          <a:xfrm>
            <a:off x="731520" y="1078992"/>
            <a:ext cx="1069848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2400" b="1">
                <a:solidFill>
                  <a:srgbClr val="1E3A8A"/>
                </a:solidFill>
                <a:latin typeface="Times New Roman"/>
              </a:defRPr>
            </a:pPr>
            <a:r>
              <a:t>Key Research Findings &amp; Literature Analysis</a:t>
            </a:r>
          </a:p>
          <a:p>
            <a:pPr algn="just">
              <a:spcAft>
                <a:spcPts val="500"/>
              </a:spcAft>
              <a:defRPr sz="2000">
                <a:solidFill>
                  <a:srgbClr val="1E293B"/>
                </a:solidFill>
                <a:latin typeface="Times New Roman"/>
              </a:defRPr>
            </a:pPr>
            <a:r>
              <a:t>•  National Education Policy (NEP 2020) Recommendations: Emphasizes early career mentoring, mother-tongue educational resources, and integration of digital literacy into secondary school stages.</a:t>
            </a:r>
          </a:p>
          <a:p>
            <a:pPr algn="just">
              <a:spcAft>
                <a:spcPts val="500"/>
              </a:spcAft>
              <a:defRPr sz="2000">
                <a:solidFill>
                  <a:srgbClr val="1E293B"/>
                </a:solidFill>
                <a:latin typeface="Times New Roman"/>
              </a:defRPr>
            </a:pPr>
            <a:r>
              <a:t>•  ASER &amp; Field Research on Rural EdTech: ASER reports indicate that while smartphone access in rural households exceeds 75%, educational use is heavily hindered by English-only interfaces and complex navigation.</a:t>
            </a:r>
          </a:p>
          <a:p>
            <a:pPr algn="just">
              <a:spcAft>
                <a:spcPts val="500"/>
              </a:spcAft>
              <a:defRPr sz="2000">
                <a:solidFill>
                  <a:srgbClr val="1E293B"/>
                </a:solidFill>
                <a:latin typeface="Times New Roman"/>
              </a:defRPr>
            </a:pPr>
            <a:r>
              <a:t>•  Evaluation of Official Government Portals: Portals such as NSP and State ePASS provide essential funding but feature fragmented multi-layered user interfaces that require cyber café mediation.</a:t>
            </a:r>
          </a:p>
          <a:p>
            <a:pPr algn="just">
              <a:spcAft>
                <a:spcPts val="500"/>
              </a:spcAft>
              <a:defRPr sz="2000">
                <a:solidFill>
                  <a:srgbClr val="1E293B"/>
                </a:solidFill>
                <a:latin typeface="Times New Roman"/>
              </a:defRPr>
            </a:pPr>
            <a:r>
              <a:t>•  Commercial EdTech Platform Barriers: Commercial platforms lock guidance behind paywalls of ₹20,000–₹50,000/year, catering almost exclusively to urban English-medium students.</a:t>
            </a:r>
          </a:p>
          <a:p>
            <a:pPr algn="just">
              <a:spcAft>
                <a:spcPts val="500"/>
              </a:spcAft>
              <a:defRPr sz="2000">
                <a:solidFill>
                  <a:srgbClr val="1E293B"/>
                </a:solidFill>
                <a:latin typeface="Times New Roman"/>
              </a:defRPr>
            </a:pPr>
            <a:r>
              <a:t>•  Synthesis &amp; Need for VidyaUday: Highlights an urgent societal need for a unified, bilingual, lightweight portal offering centralized, free guidance directly to students without intermediaries.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VidyaUday vs Competitors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475569"/>
                </a:solidFill>
                <a:latin typeface="Times New Roman"/>
              </a:defRPr>
            </a:pPr>
            <a:r>
              <a:t>Feature-by-feature comparison — what makes VidyaUday unique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9002" name="Table 9001"/>
          <p:cNvGraphicFramePr>
            <a:graphicFrameLocks noGrp="1"/>
          </p:cNvGraphicFramePr>
          <p:nvPr/>
        </p:nvGraphicFramePr>
        <p:xfrm>
          <a:off x="731520" y="1143000"/>
          <a:ext cx="1069848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828800"/>
                <a:gridCol w="1828800"/>
                <a:gridCol w="1828800"/>
                <a:gridCol w="1828800"/>
              </a:tblGrid>
              <a:tr h="731520">
                <a:tc>
                  <a:txBody>
                    <a:bodyPr/>
                    <a:lstStyle/>
                    <a:p>
                      <a:pPr algn="l">
                        <a:defRPr sz="18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Feature / Capability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VidyaUday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Govt Portals (NSP)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Private EdTech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Static PDFs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70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Access Cost &amp; Subscription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C2410C"/>
                          </a:solidFill>
                          <a:latin typeface="Times New Roman"/>
                        </a:defRPr>
                      </a:pPr>
                      <a:r>
                        <a:t>100% Free Forever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Free (Complex UI)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₹20,000–₹50,000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70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Language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C2410C"/>
                          </a:solidFill>
                          <a:latin typeface="Times New Roman"/>
                        </a:defRPr>
                      </a:pPr>
                      <a:r>
                        <a:t>English &amp; Telugu (Full)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English / Regional Mix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Predominantly English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Single Language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70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Interactive Career Roadmaps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C2410C"/>
                          </a:solidFill>
                          <a:latin typeface="Times New Roman"/>
                        </a:defRPr>
                      </a:pPr>
                      <a:r>
                        <a:t>Yes (Year-by-Year Paths)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No (Raw Notices)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Yes (Paid Paywall)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Static Lists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70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Dual AP/TS Scholarship Checker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C2410C"/>
                          </a:solidFill>
                          <a:latin typeface="Times New Roman"/>
                        </a:defRPr>
                      </a:pPr>
                      <a:r>
                        <a:t>Yes (30-Sec Quiz &amp; Matrix)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Separate State Logins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No (Commercial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70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Curated Student AI Prompts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C2410C"/>
                          </a:solidFill>
                          <a:latin typeface="Times New Roman"/>
                        </a:defRPr>
                      </a:pPr>
                      <a:r>
                        <a:t>Yes (1-Click Copy Prompts)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Paid AI Tutors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70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Digital Literacy &amp; Scam Buster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1">
                          <a:solidFill>
                            <a:srgbClr val="C2410C"/>
                          </a:solidFill>
                          <a:latin typeface="Times New Roman"/>
                        </a:defRPr>
                      </a:pPr>
                      <a:r>
                        <a:t>Yes (Quiz + Scam Guide)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>
                          <a:solidFill>
                            <a:srgbClr val="0F172A"/>
                          </a:solidFill>
                          <a:latin typeface="Times New Roman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Data Gathered / Data Used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475569"/>
                </a:solidFill>
                <a:latin typeface="Times New Roman"/>
              </a:defRPr>
            </a:pPr>
            <a:r>
              <a:t>Every module is powered by real, verified field and government data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TextBox 9001"/>
          <p:cNvSpPr txBox="1"/>
          <p:nvPr/>
        </p:nvSpPr>
        <p:spPr>
          <a:xfrm>
            <a:off x="731520" y="1078992"/>
            <a:ext cx="1069848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2400" b="1">
                <a:solidFill>
                  <a:srgbClr val="C2410C"/>
                </a:solidFill>
                <a:latin typeface="Times New Roman"/>
              </a:defRPr>
            </a:pPr>
            <a:r>
              <a:t>Primary Field Research (MVGR CSP Outreach Survey)</a:t>
            </a:r>
          </a:p>
          <a:p>
            <a:pPr algn="just">
              <a:spcAft>
                <a:spcPts val="400"/>
              </a:spcAft>
              <a:defRPr sz="2000">
                <a:solidFill>
                  <a:srgbClr val="1E293B"/>
                </a:solidFill>
                <a:latin typeface="Times New Roman"/>
              </a:defRPr>
            </a:pPr>
            <a:r>
              <a:t>•  Empirical Student Survey: Conducted field surveys and interactive sessions across 120+ rural high school and intermediate students in Vizianagaram district and adjoining mandals.</a:t>
            </a:r>
          </a:p>
          <a:p>
            <a:pPr algn="just">
              <a:spcAft>
                <a:spcPts val="400"/>
              </a:spcAft>
              <a:defRPr sz="2000">
                <a:solidFill>
                  <a:srgbClr val="1E293B"/>
                </a:solidFill>
                <a:latin typeface="Times New Roman"/>
              </a:defRPr>
            </a:pPr>
            <a:r>
              <a:t>•  Career Awareness Findings: 74.2% of surveyed students were unaware of alternative diploma, vocational, or allied health options beyond MPC/BiPC.</a:t>
            </a:r>
          </a:p>
          <a:p>
            <a:pPr algn="just">
              <a:spcAft>
                <a:spcPts val="400"/>
              </a:spcAft>
              <a:defRPr sz="2000">
                <a:solidFill>
                  <a:srgbClr val="1E293B"/>
                </a:solidFill>
                <a:latin typeface="Times New Roman"/>
              </a:defRPr>
            </a:pPr>
            <a:r>
              <a:t>•  Technology Gap: 81.5% of students had never used free AI assistance tools for homework, math problem-solving, or vocabulary enhancement.</a:t>
            </a:r>
          </a:p>
          <a:p>
            <a:pPr algn="just">
              <a:spcAft>
                <a:spcPts val="400"/>
              </a:spcAft>
              <a:defRPr sz="2000">
                <a:solidFill>
                  <a:srgbClr val="1E293B"/>
                </a:solidFill>
                <a:latin typeface="Times New Roman"/>
              </a:defRPr>
            </a:pPr>
            <a:r>
              <a:t>•  Scholarship Disconnect: 68.4% of eligible students missed statutory financial aid deadlines due to procedural complexity and lack of notification.</a:t>
            </a:r>
          </a:p>
          <a:p>
            <a:pPr algn="l">
              <a:spcBef>
                <a:spcPts val="600"/>
              </a:spcBef>
              <a:spcAft>
                <a:spcPts val="200"/>
              </a:spcAft>
              <a:defRPr sz="2400" b="1">
                <a:solidFill>
                  <a:srgbClr val="C2410C"/>
                </a:solidFill>
                <a:latin typeface="Times New Roman"/>
              </a:defRPr>
            </a:pPr>
            <a:r>
              <a:t>Secondary Data &amp; Statutory Government Gazette Sources</a:t>
            </a:r>
          </a:p>
          <a:p>
            <a:pPr algn="just">
              <a:spcAft>
                <a:spcPts val="400"/>
              </a:spcAft>
              <a:defRPr sz="2000">
                <a:solidFill>
                  <a:srgbClr val="1E293B"/>
                </a:solidFill>
                <a:latin typeface="Times New Roman"/>
              </a:defRPr>
            </a:pPr>
            <a:r>
              <a:t>•  Government Welfare Orders: Formulated scholarship rule engines using official AP Social Welfare Department Gazettes (G.O. Ms. No. 77 &amp; 115) for Jagananna Vidya Deevena &amp; Vasathi Deevena.</a:t>
            </a:r>
          </a:p>
          <a:p>
            <a:pPr algn="just">
              <a:spcAft>
                <a:spcPts val="400"/>
              </a:spcAft>
              <a:defRPr sz="2000">
                <a:solidFill>
                  <a:srgbClr val="1E293B"/>
                </a:solidFill>
                <a:latin typeface="Times New Roman"/>
              </a:defRPr>
            </a:pPr>
            <a:r>
              <a:t>•  State &amp; Central Schemes: Codified eligibility rules from Telangana ePASS (CGG) and National Scholarship Portal (NSP Post-Matric, NMMS, Pragati, Saksham).</a:t>
            </a:r>
          </a:p>
          <a:p>
            <a:pPr algn="just">
              <a:spcAft>
                <a:spcPts val="400"/>
              </a:spcAft>
              <a:defRPr sz="2000">
                <a:solidFill>
                  <a:srgbClr val="1E293B"/>
                </a:solidFill>
                <a:latin typeface="Times New Roman"/>
              </a:defRPr>
            </a:pPr>
            <a:r>
              <a:t>•  Official Curriculum Data: Mapped authentic digitized textbook repositories from AP SCERT and TS SCERT official academic portals.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6391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Methodology / System Design — Flow Chart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475569"/>
                </a:solidFill>
                <a:latin typeface="Times New Roman"/>
              </a:defRPr>
            </a:pPr>
            <a:r>
              <a:t>A guided five-step journey from confusion to a confident, informed decision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Rounded Rectangle 9001"/>
          <p:cNvSpPr/>
          <p:nvPr/>
        </p:nvSpPr>
        <p:spPr>
          <a:xfrm>
            <a:off x="731520" y="1143000"/>
            <a:ext cx="10698480" cy="84124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>
              <a:spcAft>
                <a:spcPts val="200"/>
              </a:spcAft>
              <a:defRPr sz="2000" b="1">
                <a:solidFill>
                  <a:srgbClr val="C2410C"/>
                </a:solidFill>
                <a:latin typeface="Times New Roman"/>
              </a:defRPr>
            </a:pPr>
            <a:r>
              <a:t>1. Student Access</a:t>
            </a:r>
          </a:p>
          <a:p>
            <a:pPr algn="ctr">
              <a:defRPr sz="1800">
                <a:solidFill>
                  <a:srgbClr val="1E293B"/>
                </a:solidFill>
                <a:latin typeface="Times New Roman"/>
              </a:defRPr>
            </a:pPr>
            <a:r>
              <a:t>Visits lightweight, zero-login web platform on mobile/desktop; chooses English or Telugu.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731520" y="2130552"/>
            <a:ext cx="10698480" cy="84124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>
              <a:spcAft>
                <a:spcPts val="200"/>
              </a:spcAft>
              <a:defRPr sz="2000" b="1">
                <a:solidFill>
                  <a:srgbClr val="C2410C"/>
                </a:solidFill>
                <a:latin typeface="Times New Roman"/>
              </a:defRPr>
            </a:pPr>
            <a:r>
              <a:t>2. Module Selection</a:t>
            </a:r>
          </a:p>
          <a:p>
            <a:pPr algn="ctr">
              <a:defRPr sz="1800">
                <a:solidFill>
                  <a:srgbClr val="1E293B"/>
                </a:solidFill>
                <a:latin typeface="Times New Roman"/>
              </a:defRPr>
            </a:pPr>
            <a:r>
              <a:t>Selects Career Roadmaps, Scholarship Finder, SCERT Books, AI Hub, or Scam Buster.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731520" y="3118104"/>
            <a:ext cx="10698480" cy="84124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>
              <a:spcAft>
                <a:spcPts val="200"/>
              </a:spcAft>
              <a:defRPr sz="2000" b="1">
                <a:solidFill>
                  <a:srgbClr val="C2410C"/>
                </a:solidFill>
                <a:latin typeface="Times New Roman"/>
              </a:defRPr>
            </a:pPr>
            <a:r>
              <a:t>3. Interactive Input</a:t>
            </a:r>
          </a:p>
          <a:p>
            <a:pPr algn="ctr">
              <a:defRPr sz="1800">
                <a:solidFill>
                  <a:srgbClr val="1E293B"/>
                </a:solidFill>
                <a:latin typeface="Times New Roman"/>
              </a:defRPr>
            </a:pPr>
            <a:r>
              <a:t>Inputs simple criteria: class level, stream of interest, family income, and state (AP/TS).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731520" y="4105656"/>
            <a:ext cx="10698480" cy="841248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>
              <a:spcAft>
                <a:spcPts val="200"/>
              </a:spcAft>
              <a:defRPr sz="2000" b="1">
                <a:solidFill>
                  <a:srgbClr val="C2410C"/>
                </a:solidFill>
                <a:latin typeface="Times New Roman"/>
              </a:defRPr>
            </a:pPr>
            <a:r>
              <a:t>4. Logic Execution</a:t>
            </a:r>
          </a:p>
          <a:p>
            <a:pPr algn="ctr">
              <a:defRPr sz="1800">
                <a:solidFill>
                  <a:srgbClr val="1E293B"/>
                </a:solidFill>
                <a:latin typeface="Times New Roman"/>
              </a:defRPr>
            </a:pPr>
            <a:r>
              <a:t>Client-side JS rule engine evaluates eligibility matrix, filters schemes, and renders results.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731520" y="5093208"/>
            <a:ext cx="10698480" cy="84124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73152" bIns="73152"/>
          <a:lstStyle/>
          <a:p>
            <a:pPr algn="ctr">
              <a:spcAft>
                <a:spcPts val="200"/>
              </a:spcAft>
              <a:defRPr sz="2000" b="1">
                <a:solidFill>
                  <a:srgbClr val="C2410C"/>
                </a:solidFill>
                <a:latin typeface="Times New Roman"/>
              </a:defRPr>
            </a:pPr>
            <a:r>
              <a:t>5. Empowered Action</a:t>
            </a:r>
          </a:p>
          <a:p>
            <a:pPr algn="ctr">
              <a:defRPr sz="1800">
                <a:solidFill>
                  <a:srgbClr val="1E293B"/>
                </a:solidFill>
                <a:latin typeface="Times New Roman"/>
              </a:defRPr>
            </a:pPr>
            <a:r>
              <a:t>Student accesses official application links, downloads offline guides, and applies safely.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Methodology / System Design — Block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475569"/>
                </a:solidFill>
                <a:latin typeface="Times New Roman"/>
              </a:defRPr>
            </a:pPr>
            <a:r>
              <a:t>Four-layer architecture that powers the VidyaUday platform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Rounded Rectangle 9001"/>
          <p:cNvSpPr/>
          <p:nvPr/>
        </p:nvSpPr>
        <p:spPr>
          <a:xfrm>
            <a:off x="731520" y="1188720"/>
            <a:ext cx="10698480" cy="10515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 bIns="109728"/>
          <a:lstStyle/>
          <a:p>
            <a:pPr algn="ctr">
              <a:spcAft>
                <a:spcPts val="300"/>
              </a:spcAft>
              <a:defRPr sz="2100" b="1">
                <a:solidFill>
                  <a:srgbClr val="1E3A8A"/>
                </a:solidFill>
                <a:latin typeface="Times New Roman"/>
              </a:defRPr>
            </a:pPr>
            <a:r>
              <a:t>Layer 1: User Interface &amp; Presentation Layer</a:t>
            </a:r>
          </a:p>
          <a:p>
            <a:pPr algn="ctr">
              <a:defRPr sz="1800">
                <a:solidFill>
                  <a:srgbClr val="1E293B"/>
                </a:solidFill>
                <a:latin typeface="Times New Roman"/>
              </a:defRPr>
            </a:pPr>
            <a:r>
              <a:t>Responsive Mobile-First UI (HTML5/CSS3)  |  Bilingual Switcher (English/Telugu)  |  Web Speech Voice Assistant  |  High-Contrast Typography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731520" y="2432304"/>
            <a:ext cx="10698480" cy="10515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 bIns="109728"/>
          <a:lstStyle/>
          <a:p>
            <a:pPr algn="ctr">
              <a:spcAft>
                <a:spcPts val="300"/>
              </a:spcAft>
              <a:defRPr sz="2100" b="1">
                <a:solidFill>
                  <a:srgbClr val="C2410C"/>
                </a:solidFill>
                <a:latin typeface="Times New Roman"/>
              </a:defRPr>
            </a:pPr>
            <a:r>
              <a:t>Layer 2: Core Feature &amp; Application Layer</a:t>
            </a:r>
          </a:p>
          <a:p>
            <a:pPr algn="ctr">
              <a:defRPr sz="1800">
                <a:solidFill>
                  <a:srgbClr val="1E293B"/>
                </a:solidFill>
                <a:latin typeface="Times New Roman"/>
              </a:defRPr>
            </a:pPr>
            <a:r>
              <a:t>Interactive Career Roadmaps  |  AP/TS Dual Scholarship Matcher  |  Scheme Comparison Matrix  |  SCERT Books Hub  |  AI Prompts  |  Scam Buster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731520" y="3675888"/>
            <a:ext cx="10698480" cy="105156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 bIns="109728"/>
          <a:lstStyle/>
          <a:p>
            <a:pPr algn="ctr">
              <a:spcAft>
                <a:spcPts val="300"/>
              </a:spcAft>
              <a:defRPr sz="2100" b="1">
                <a:solidFill>
                  <a:srgbClr val="059669"/>
                </a:solidFill>
                <a:latin typeface="Times New Roman"/>
              </a:defRPr>
            </a:pPr>
            <a:r>
              <a:t>Layer 3: Client-Side Logic &amp; Offline Storage</a:t>
            </a:r>
          </a:p>
          <a:p>
            <a:pPr algn="ctr">
              <a:defRPr sz="1800">
                <a:solidFill>
                  <a:srgbClr val="1E293B"/>
                </a:solidFill>
                <a:latin typeface="Times New Roman"/>
              </a:defRPr>
            </a:pPr>
            <a:r>
              <a:t>JavaScript Dynamic Filter Engines  |  Eligibility Decision Tree Matrix  |  Browser LocalStorage  |  Offline Resource Pack Generator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731520" y="4919472"/>
            <a:ext cx="10698480" cy="10515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 bIns="109728"/>
          <a:lstStyle/>
          <a:p>
            <a:pPr algn="ctr">
              <a:spcAft>
                <a:spcPts val="300"/>
              </a:spcAft>
              <a:defRPr sz="2100" b="1">
                <a:solidFill>
                  <a:srgbClr val="059669"/>
                </a:solidFill>
                <a:latin typeface="Times New Roman"/>
              </a:defRPr>
            </a:pPr>
            <a:r>
              <a:t>Layer 4: External Data &amp; Verification Layer</a:t>
            </a:r>
          </a:p>
          <a:p>
            <a:pPr algn="ctr">
              <a:defRPr sz="1800">
                <a:solidFill>
                  <a:srgbClr val="1E293B"/>
                </a:solidFill>
                <a:latin typeface="Times New Roman"/>
              </a:defRPr>
            </a:pPr>
            <a:r>
              <a:t>Official AP Social Welfare (JVD) Rules  |  Telangana ePASS (CGG) Data  |  National Scholarship Portal (NSP)  |  AP/TS SCERT Curriculum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Implementation / Core Modules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475569"/>
                </a:solidFill>
                <a:latin typeface="Times New Roman"/>
              </a:defRPr>
            </a:pPr>
            <a:r>
              <a:t>Six comprehensive modules built and verified on the live platform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TextBox 9001"/>
          <p:cNvSpPr txBox="1"/>
          <p:nvPr/>
        </p:nvSpPr>
        <p:spPr>
          <a:xfrm>
            <a:off x="731520" y="1078992"/>
            <a:ext cx="1069848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  <a:defRPr sz="2400" b="1">
                <a:solidFill>
                  <a:srgbClr val="C2410C"/>
                </a:solidFill>
                <a:latin typeface="Times New Roman"/>
              </a:defRPr>
            </a:pPr>
            <a:r>
              <a:t>Platform Implementation Modules</a:t>
            </a:r>
          </a:p>
          <a:p>
            <a:pPr algn="just">
              <a:spcAft>
                <a:spcPts val="400"/>
              </a:spcAft>
              <a:defRPr sz="1900">
                <a:solidFill>
                  <a:srgbClr val="1E293B"/>
                </a:solidFill>
                <a:latin typeface="Times New Roman"/>
              </a:defRPr>
            </a:pPr>
            <a:r>
              <a:t>•  1. Interactive Career Roadmap Explorer: Year-by-year academic and career path mapping after 10th and 12th covering MPC, BiPC, CEC, MEC, Polytechnic, and ITI with degree outcomes and entrance exams.</a:t>
            </a:r>
          </a:p>
          <a:p>
            <a:pPr algn="just">
              <a:spcAft>
                <a:spcPts val="400"/>
              </a:spcAft>
              <a:defRPr sz="1900">
                <a:solidFill>
                  <a:srgbClr val="1E293B"/>
                </a:solidFill>
                <a:latin typeface="Times New Roman"/>
              </a:defRPr>
            </a:pPr>
            <a:r>
              <a:t>•  2. AP/TS Dual Scholarship Eligibility Engine: Interactive 30-second checker evaluating state, caste, annual income, and class level against AP JVD, TS ePASS, NSP Post-Matric, NMMS, and AICTE Pragati schemes.</a:t>
            </a:r>
          </a:p>
          <a:p>
            <a:pPr algn="just">
              <a:spcAft>
                <a:spcPts val="400"/>
              </a:spcAft>
              <a:defRPr sz="1900">
                <a:solidFill>
                  <a:srgbClr val="1E293B"/>
                </a:solidFill>
                <a:latin typeface="Times New Roman"/>
              </a:defRPr>
            </a:pPr>
            <a:r>
              <a:t>•  3. Scheme Comparison &amp; Application Matrix: Side-by-side comparative table analyzing benefits, eligibility caps, deadline calendars, and direct verified official application portals.</a:t>
            </a:r>
          </a:p>
          <a:p>
            <a:pPr algn="just">
              <a:spcAft>
                <a:spcPts val="400"/>
              </a:spcAft>
              <a:defRPr sz="1900">
                <a:solidFill>
                  <a:srgbClr val="1E293B"/>
                </a:solidFill>
                <a:latin typeface="Times New Roman"/>
              </a:defRPr>
            </a:pPr>
            <a:r>
              <a:t>•  4. Curated Student AI Study Prompts: Categorized, 1-click copyable prompts for Google Gemini and ChatGPT assisting with homework, math solutions, essay outlining, and English-Telugu translation.</a:t>
            </a:r>
          </a:p>
          <a:p>
            <a:pPr algn="just">
              <a:spcAft>
                <a:spcPts val="400"/>
              </a:spcAft>
              <a:defRPr sz="1900">
                <a:solidFill>
                  <a:srgbClr val="1E293B"/>
                </a:solidFill>
                <a:latin typeface="Times New Roman"/>
              </a:defRPr>
            </a:pPr>
            <a:r>
              <a:t>•  5. Digital Literacy &amp; Cyber Scam Buster: 3-mode hub featuring student digital safety checklists, a 30-second readiness self-assessment quiz, and practical guides to detect phishing and fake scholarship traps.</a:t>
            </a:r>
          </a:p>
          <a:p>
            <a:pPr algn="just">
              <a:spcAft>
                <a:spcPts val="400"/>
              </a:spcAft>
              <a:defRPr sz="1900">
                <a:solidFill>
                  <a:srgbClr val="1E293B"/>
                </a:solidFill>
                <a:latin typeface="Times New Roman"/>
              </a:defRPr>
            </a:pPr>
            <a:r>
              <a:t>•  6. Universal Accessibility &amp; Offline Packs: 1-click downloadable printable study and scholarship guides, coupled with bilingual speech synthesis for vernacular auditory learners.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475569"/>
                </a:solidFill>
                <a:latin typeface="Times New Roman"/>
              </a:defRPr>
            </a:pPr>
            <a:r>
              <a:t>Real production screens demonstrating interactive student capabilities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VidyaUday Live Platform Screenshots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81360" y="356616"/>
            <a:ext cx="1051560" cy="676656"/>
          </a:xfrm>
          <a:prstGeom prst="rect">
            <a:avLst/>
          </a:prstGeom>
        </p:spPr>
      </p:pic>
      <p:pic>
        <p:nvPicPr>
          <p:cNvPr id="13" name="Picture 12" descr="schol_01_hub_clea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1143000"/>
            <a:ext cx="5212080" cy="2240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" y="342900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Times New Roman"/>
              </a:defRPr>
            </a:pPr>
            <a:r>
              <a:t>Screen 1: Scholarship Discovery Hub</a:t>
            </a:r>
          </a:p>
        </p:txBody>
      </p:sp>
      <p:pic>
        <p:nvPicPr>
          <p:cNvPr id="15" name="Picture 14" descr="v2_01_roadmaps_ta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1143000"/>
            <a:ext cx="5212080" cy="22402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17920" y="342900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Times New Roman"/>
              </a:defRPr>
            </a:pPr>
            <a:r>
              <a:t>Screen 2: Interactive Career Roadmaps</a:t>
            </a:r>
          </a:p>
        </p:txBody>
      </p:sp>
      <p:pic>
        <p:nvPicPr>
          <p:cNvPr id="17" name="Picture 16" descr="schol_03_checker_result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3840480"/>
            <a:ext cx="5212080" cy="2240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1520" y="61264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Times New Roman"/>
              </a:defRPr>
            </a:pPr>
            <a:r>
              <a:t>Screen 3: AP/TS Eligibility Matcher</a:t>
            </a:r>
          </a:p>
        </p:txBody>
      </p:sp>
      <p:pic>
        <p:nvPicPr>
          <p:cNvPr id="19" name="Picture 18" descr="digital_01_skills_al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17920" y="3840480"/>
            <a:ext cx="5212080" cy="2240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17920" y="61264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Times New Roman"/>
              </a:defRPr>
            </a:pPr>
            <a:r>
              <a:t>Screen 4: Digital Literacy &amp; Scam Buster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Impact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475569"/>
                </a:solidFill>
                <a:latin typeface="Times New Roman"/>
              </a:defRPr>
            </a:pPr>
            <a:r>
              <a:t>Technical, social, and economic impact of the VidyaUday platform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TextBox 9001"/>
          <p:cNvSpPr txBox="1"/>
          <p:nvPr/>
        </p:nvSpPr>
        <p:spPr>
          <a:xfrm>
            <a:off x="731520" y="1078992"/>
            <a:ext cx="1069848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2400" b="1">
                <a:solidFill>
                  <a:srgbClr val="1E3A8A"/>
                </a:solidFill>
                <a:latin typeface="Times New Roman"/>
              </a:defRPr>
            </a:pPr>
            <a:r>
              <a:t>Social Impact on Rural Student Communities</a:t>
            </a:r>
          </a:p>
          <a:p>
            <a:pPr algn="just">
              <a:spcAft>
                <a:spcPts val="4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Democratized Career Guidance: Equips rural students with structured, multi-stream career visibility, breaking generational cycles of choosing courses purely based on local peer pressure.</a:t>
            </a:r>
          </a:p>
          <a:p>
            <a:pPr algn="just">
              <a:spcAft>
                <a:spcPts val="4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Elimination of Exploitative Intermediaries: Empowers students and parents to understand scholarship eligibility and application procedures directly, eliminating cyber café commission fees (₹200–₹500/application).</a:t>
            </a:r>
          </a:p>
          <a:p>
            <a:pPr algn="just">
              <a:spcAft>
                <a:spcPts val="4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Digital Empowerment &amp; Cyber Safety: Promotes responsible online hygiene, digital self-confidence, and proactive scam defense among vulnerable first-generation internet users.</a:t>
            </a:r>
          </a:p>
          <a:p>
            <a:pPr algn="l">
              <a:spcBef>
                <a:spcPts val="600"/>
              </a:spcBef>
              <a:spcAft>
                <a:spcPts val="200"/>
              </a:spcAft>
              <a:defRPr sz="2400" b="1">
                <a:solidFill>
                  <a:srgbClr val="1E3A8A"/>
                </a:solidFill>
                <a:latin typeface="Times New Roman"/>
              </a:defRPr>
            </a:pPr>
            <a:r>
              <a:t>Technological Impact &amp; Innovation</a:t>
            </a:r>
          </a:p>
          <a:p>
            <a:pPr algn="just">
              <a:spcAft>
                <a:spcPts val="4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Zero-Barrier Universal Access: High-speed, responsive performance that loads in under 1.5 seconds on 3G/4G rural networks with zero battery or data overhead.</a:t>
            </a:r>
          </a:p>
          <a:p>
            <a:pPr algn="just">
              <a:spcAft>
                <a:spcPts val="4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Privacy-First Architecture: 100% client-side data evaluation with zero database storage, ensuring complete compliance with student digital privacy standards.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Challenges Faced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475569"/>
                </a:solidFill>
                <a:latin typeface="Times New Roman"/>
              </a:defRPr>
            </a:pPr>
            <a:r>
              <a:t>Key obstacles encountered during development and how each one was resolved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TextBox 9001"/>
          <p:cNvSpPr txBox="1"/>
          <p:nvPr/>
        </p:nvSpPr>
        <p:spPr>
          <a:xfrm>
            <a:off x="731520" y="1078992"/>
            <a:ext cx="1069848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2400" b="1">
                <a:solidFill>
                  <a:srgbClr val="C2410C"/>
                </a:solidFill>
                <a:latin typeface="Times New Roman"/>
              </a:defRPr>
            </a:pPr>
            <a:r>
              <a:t>Key Challenges &amp; Engineering Solutions</a:t>
            </a:r>
          </a:p>
          <a:p>
            <a:pPr algn="just">
              <a:spcAft>
                <a:spcPts val="800"/>
              </a:spcAft>
              <a:defRPr sz="2000">
                <a:solidFill>
                  <a:srgbClr val="1E293B"/>
                </a:solidFill>
                <a:latin typeface="Times New Roman"/>
              </a:defRPr>
            </a:pPr>
            <a:r>
              <a:t>•  State-Specific Rule Discrepancies: Challenge: AP and Telangana maintain divergent scholarship eligibility criteria, caste classifications, and portal architectures. Solution: Engineered a unified, state-aware JSON decision matrix that dynamically maps student inputs to state-specific statutory guidelines.</a:t>
            </a:r>
          </a:p>
          <a:p>
            <a:pPr algn="just">
              <a:spcAft>
                <a:spcPts val="800"/>
              </a:spcAft>
              <a:defRPr sz="2000">
                <a:solidFill>
                  <a:srgbClr val="1E293B"/>
                </a:solidFill>
                <a:latin typeface="Times New Roman"/>
              </a:defRPr>
            </a:pPr>
            <a:r>
              <a:t>•  Rural Bandwidth &amp; Device Constraints: Challenge: Target rural students access the web on low-spec smartphones over unstable 3G/4G mobile connections. Solution: Replaced resource-heavy frameworks with pure lightweight JavaScript, CSS grid layouts, SVG icons, and printable offline download packs.</a:t>
            </a:r>
          </a:p>
          <a:p>
            <a:pPr algn="just">
              <a:spcAft>
                <a:spcPts val="800"/>
              </a:spcAft>
              <a:defRPr sz="2000">
                <a:solidFill>
                  <a:srgbClr val="1E293B"/>
                </a:solidFill>
                <a:latin typeface="Times New Roman"/>
              </a:defRPr>
            </a:pPr>
            <a:r>
              <a:t>•  Vernacular Language &amp; Terminology Translation: Challenge: Complex government circulars and academic guidance are unintelligible to rural students in English. Solution: Authored authentic bilingual Telugu translations paired with browser-native Web Speech API voice synthesis for auditory accessibility.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475569"/>
                </a:solidFill>
                <a:latin typeface="Times New Roman"/>
              </a:defRPr>
            </a:pPr>
            <a:r>
              <a:t>What VidyaUday proves — and what it means for every rural student in AP &amp; 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TextBox 9001"/>
          <p:cNvSpPr txBox="1"/>
          <p:nvPr/>
        </p:nvSpPr>
        <p:spPr>
          <a:xfrm>
            <a:off x="731520" y="1078992"/>
            <a:ext cx="1069848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2400" b="1">
                <a:solidFill>
                  <a:srgbClr val="1E3A8A"/>
                </a:solidFill>
                <a:latin typeface="Times New Roman"/>
              </a:defRPr>
            </a:pPr>
            <a:r>
              <a:t>Summary of Project Achievements</a:t>
            </a:r>
          </a:p>
          <a:p>
            <a:pPr algn="just">
              <a:spcAft>
                <a:spcPts val="4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Successfully engineered and deployed VidyaUday as a 100% free, production-ready community educational empowerment platform.</a:t>
            </a:r>
          </a:p>
          <a:p>
            <a:pPr algn="just">
              <a:spcAft>
                <a:spcPts val="4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Centralized diverse educational tracks, statutory AP/TS scholarships, digitized SCERT textbooks, and student AI prompts into a unified single-page portal.</a:t>
            </a:r>
          </a:p>
          <a:p>
            <a:pPr algn="just">
              <a:spcAft>
                <a:spcPts val="4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Integrated practical digital literacy drills and cyber scam defense guides to protect students from predatory online coaching and scholarship fraud.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2400" b="1">
                <a:solidFill>
                  <a:srgbClr val="1E3A8A"/>
                </a:solidFill>
                <a:latin typeface="Times New Roman"/>
              </a:defRPr>
            </a:pPr>
            <a:r>
              <a:t>Final Project Takeaway</a:t>
            </a:r>
          </a:p>
          <a:p>
            <a:pPr algn="just">
              <a:spcAft>
                <a:spcPts val="4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VidyaUday demonstrates that accessible, thoughtful technology can bridge the urban-rural educational divide. By placing high-quality guidance, scholarship access, and digital literacy directly into students' hands at zero cost, we empower rural youth to make confident, informed choices for their future.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Future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475569"/>
                </a:solidFill>
                <a:latin typeface="Times New Roman"/>
              </a:defRPr>
            </a:pPr>
            <a:r>
              <a:t>Planned enhancements that will take VidyaUday to the next level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TextBox 9001"/>
          <p:cNvSpPr txBox="1"/>
          <p:nvPr/>
        </p:nvSpPr>
        <p:spPr>
          <a:xfrm>
            <a:off x="731520" y="1078992"/>
            <a:ext cx="1069848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2400" b="1">
                <a:solidFill>
                  <a:srgbClr val="C2410C"/>
                </a:solidFill>
                <a:latin typeface="Times New Roman"/>
              </a:defRPr>
            </a:pPr>
            <a:r>
              <a:t>Roadmap for Future Platform Enhancements</a:t>
            </a:r>
          </a:p>
          <a:p>
            <a:pPr algn="just">
              <a:spcAft>
                <a:spcPts val="6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Progressive Web App (PWA) Offline Engine: Implement complete service worker caching to allow full offline operation on village smartphones even when network connectivity drops completely.</a:t>
            </a:r>
          </a:p>
          <a:p>
            <a:pPr algn="just">
              <a:spcAft>
                <a:spcPts val="6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Automated WhatsApp / Telegram Community Bot: Develop an automated vernacular bot sending automated scholarship deadline reminders, entrance exam alerts, and career FAQs directly to students' family phones.</a:t>
            </a:r>
          </a:p>
          <a:p>
            <a:pPr algn="just">
              <a:spcAft>
                <a:spcPts val="6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College Student Mentorship Network: Establish a digital volunteer mentorship bridge connecting senior engineering students from MVGR College with rural school students for 1-on-1 career guidance.</a:t>
            </a:r>
          </a:p>
          <a:p>
            <a:pPr algn="just">
              <a:spcAft>
                <a:spcPts val="600"/>
              </a:spcAft>
              <a:defRPr sz="2100">
                <a:solidFill>
                  <a:srgbClr val="1E293B"/>
                </a:solidFill>
                <a:latin typeface="Times New Roman"/>
              </a:defRPr>
            </a:pPr>
            <a:r>
              <a:t>•  Native Ultra-Lightweight Android APK: Package the platform into a standalone 2MB Android application distributed freely through village schools, Grama Sachivalayams, and local libraries.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2000" cy="201168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36576" cy="6583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F172A"/>
                </a:solidFill>
                <a:latin typeface="Times New Roman"/>
              </a:defRPr>
            </a:pPr>
            <a:r>
              <a:t>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21792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475569"/>
                </a:solidFill>
                <a:latin typeface="Times New Roman"/>
              </a:defRPr>
            </a:pPr>
            <a:r>
              <a:t>Sources consulted and official platforms referenced in building VidyaUday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896112"/>
            <a:ext cx="1133856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675120"/>
            <a:ext cx="3657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Times New Roman"/>
              </a:rPr>
              <a:t>VidyaUday  |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6675120"/>
            <a:ext cx="21945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Times New Roman"/>
              </a:rPr>
              <a:t>03-07-2026</a:t>
            </a:r>
          </a:p>
        </p:txBody>
      </p:sp>
      <p:pic>
        <p:nvPicPr>
          <p:cNvPr id="9001" name="Logo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 bwMode="auto">
          <a:xfrm>
            <a:off x="10880203" y="354336"/>
            <a:ext cx="1049749" cy="677182"/>
          </a:xfrm>
          <a:prstGeom prst="rect">
            <a:avLst/>
          </a:prstGeom>
          <a:noFill/>
          <a:ln>
            <a:noFill/>
          </a:ln>
        </p:spPr>
      </p:pic>
      <p:sp>
        <p:nvSpPr>
          <p:cNvPr id="9002" name="TextBox 9001"/>
          <p:cNvSpPr txBox="1"/>
          <p:nvPr/>
        </p:nvSpPr>
        <p:spPr>
          <a:xfrm>
            <a:off x="731520" y="1078992"/>
            <a:ext cx="10698480" cy="530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  <a:defRPr sz="2400" b="1">
                <a:solidFill>
                  <a:srgbClr val="1E3A8A"/>
                </a:solidFill>
                <a:latin typeface="Times New Roman"/>
              </a:defRPr>
            </a:pPr>
            <a:r>
              <a:t>Academic &amp; Statutory References</a:t>
            </a:r>
          </a:p>
          <a:p>
            <a:pPr algn="just">
              <a:spcAft>
                <a:spcPts val="500"/>
              </a:spcAft>
              <a:defRPr sz="1900">
                <a:solidFill>
                  <a:srgbClr val="1E293B"/>
                </a:solidFill>
                <a:latin typeface="Times New Roman"/>
              </a:defRPr>
            </a:pPr>
            <a:r>
              <a:t>[1] Ministry of Human Resource Development (MHRD), "National Education Policy 2020," Government of India, New Delhi, 2020.</a:t>
            </a:r>
          </a:p>
          <a:p>
            <a:pPr algn="just">
              <a:spcAft>
                <a:spcPts val="500"/>
              </a:spcAft>
              <a:defRPr sz="1900">
                <a:solidFill>
                  <a:srgbClr val="1E293B"/>
                </a:solidFill>
                <a:latin typeface="Times New Roman"/>
              </a:defRPr>
            </a:pPr>
            <a:r>
              <a:t>[2] National Scholarship Portal (NSP), Ministry of Electronics and Information Technology, Government of India. Available: https://scholarships.gov.in</a:t>
            </a:r>
          </a:p>
          <a:p>
            <a:pPr algn="just">
              <a:spcAft>
                <a:spcPts val="500"/>
              </a:spcAft>
              <a:defRPr sz="1900">
                <a:solidFill>
                  <a:srgbClr val="1E293B"/>
                </a:solidFill>
                <a:latin typeface="Times New Roman"/>
              </a:defRPr>
            </a:pPr>
            <a:r>
              <a:t>[3] Andhra Pradesh State Social Welfare Department, "G.O. Ms. No. 77 &amp; 115 — Jagananna Vidya Deevena &amp; Vasathi Deevena Regulations," Amaravati, AP.</a:t>
            </a:r>
          </a:p>
          <a:p>
            <a:pPr algn="just">
              <a:spcAft>
                <a:spcPts val="500"/>
              </a:spcAft>
              <a:defRPr sz="1900">
                <a:solidFill>
                  <a:srgbClr val="1E293B"/>
                </a:solidFill>
                <a:latin typeface="Times New Roman"/>
              </a:defRPr>
            </a:pPr>
            <a:r>
              <a:t>[4] Centre for Good Governance (CGG), "Telangana Electronic Payment and Application System of Scholarships (ePASS)," Govt of Telangana. Available: https://telanganaepass.cgg.gov.in</a:t>
            </a:r>
          </a:p>
          <a:p>
            <a:pPr algn="just">
              <a:spcAft>
                <a:spcPts val="500"/>
              </a:spcAft>
              <a:defRPr sz="1900">
                <a:solidFill>
                  <a:srgbClr val="1E293B"/>
                </a:solidFill>
                <a:latin typeface="Times New Roman"/>
              </a:defRPr>
            </a:pPr>
            <a:r>
              <a:t>[5] Pratham Education Foundation, "Annual Status of Education Report (ASER) 2023: Beyond Basics," New Delhi, 2024.</a:t>
            </a:r>
          </a:p>
          <a:p>
            <a:pPr algn="just">
              <a:spcAft>
                <a:spcPts val="500"/>
              </a:spcAft>
              <a:defRPr sz="1900">
                <a:solidFill>
                  <a:srgbClr val="1E293B"/>
                </a:solidFill>
                <a:latin typeface="Times New Roman"/>
              </a:defRPr>
            </a:pPr>
            <a:r>
              <a:t>[6] National Cyber Crime Reporting Portal &amp; Indian Cyber Crime Coordination Centre (I4C), Ministry of Home Affairs, Govt of India. Available: https://cybercrime.gov.in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3440</Words>
  <Application>Microsoft Office PowerPoint</Application>
  <PresentationFormat>Widescreen</PresentationFormat>
  <Paragraphs>444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Times New Roman</vt:lpstr>
      <vt:lpstr>Office Theme</vt:lpstr>
      <vt:lpstr>Community Project  Branch: CSE-CYBERSECURITY &amp; INTERNET OF THINGS(ICB) Department: Data Engineering   Semester: V    Section: A          Regulation: R24             Course Code: R24MSCSP001                Community Project  Branch: CSE-CYBERSECURITY &amp; INTERNET OF THINGS(ICB)  Department: Data Engineering  Semester: V    Section: A          Regulation: R24             Course Code: R24MSCSP001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charan teja</dc:creator>
  <cp:keywords/>
  <dc:description>generated using python-pptx</dc:description>
  <cp:lastModifiedBy>charan teja</cp:lastModifiedBy>
  <cp:revision>4</cp:revision>
  <dcterms:created xsi:type="dcterms:W3CDTF">2013-01-27T09:14:16Z</dcterms:created>
  <dcterms:modified xsi:type="dcterms:W3CDTF">2026-07-25T02:26:38Z</dcterms:modified>
  <cp:category/>
</cp:coreProperties>
</file>