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A81387-CAA0-B664-E5E7-652103F7464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E228F4-F1C6-996C-1333-E77944D0112F}"/>
              </a:ext>
            </a:extLst>
          </p:cNvPr>
          <p:cNvSpPr txBox="1"/>
          <p:nvPr/>
        </p:nvSpPr>
        <p:spPr>
          <a:xfrm>
            <a:off x="7322713" y="5965777"/>
            <a:ext cx="4271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V. JYOTHI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25BDB-B544-A468-80FA-5C328DABA918}"/>
              </a:ext>
            </a:extLst>
          </p:cNvPr>
          <p:cNvSpPr txBox="1"/>
          <p:nvPr/>
        </p:nvSpPr>
        <p:spPr>
          <a:xfrm>
            <a:off x="713696" y="5965777"/>
            <a:ext cx="6716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Coordinator :Dr .T .GOVINDH RAO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                    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39C9FE-9A55-D878-4113-BB45C8E42B25}"/>
              </a:ext>
            </a:extLst>
          </p:cNvPr>
          <p:cNvSpPr txBox="1"/>
          <p:nvPr/>
        </p:nvSpPr>
        <p:spPr>
          <a:xfrm>
            <a:off x="724153" y="5240594"/>
            <a:ext cx="4780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: Mrs. G .LALITHA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 : ASSISTANT PROFESSOR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0522D6-D17F-C571-6E54-DC1EB5D4F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623335"/>
              </p:ext>
            </p:extLst>
          </p:nvPr>
        </p:nvGraphicFramePr>
        <p:xfrm>
          <a:off x="3211826" y="2833809"/>
          <a:ext cx="6246761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4">
                  <a:extLst>
                    <a:ext uri="{9D8B030D-6E8A-4147-A177-3AD203B41FA5}">
                      <a16:colId xmlns:a16="http://schemas.microsoft.com/office/drawing/2014/main" val="2978184859"/>
                    </a:ext>
                  </a:extLst>
                </a:gridCol>
                <a:gridCol w="2408903">
                  <a:extLst>
                    <a:ext uri="{9D8B030D-6E8A-4147-A177-3AD203B41FA5}">
                      <a16:colId xmlns:a16="http://schemas.microsoft.com/office/drawing/2014/main" val="2193938237"/>
                    </a:ext>
                  </a:extLst>
                </a:gridCol>
                <a:gridCol w="2802194">
                  <a:extLst>
                    <a:ext uri="{9D8B030D-6E8A-4147-A177-3AD203B41FA5}">
                      <a16:colId xmlns:a16="http://schemas.microsoft.com/office/drawing/2014/main" val="2017919128"/>
                    </a:ext>
                  </a:extLst>
                </a:gridCol>
              </a:tblGrid>
              <a:tr h="28054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 Number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48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24331A4726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KALISETTY CHARAN TEJA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0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24331A4745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PANDI ABHINASH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44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24331A4720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GUMMIDI PUSPHA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2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24331A4752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SYED MOHAIDEEN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87222"/>
                  </a:ext>
                </a:extLst>
              </a:tr>
            </a:tbl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B287393A-5152-2239-E68B-758F10844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847" y="1982521"/>
            <a:ext cx="9144000" cy="798837"/>
          </a:xfrm>
        </p:spPr>
        <p:txBody>
          <a:bodyPr>
            <a:normAutofit fontScale="92500"/>
          </a:bodyPr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VIDYA Uday – DIGITAL EMPOWERMENT AND AI AWARENESS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Number:3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D0BAEA-A6E1-3B7C-66B0-6AA9B4168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2663" y="56298"/>
            <a:ext cx="9518554" cy="814592"/>
          </a:xfrm>
        </p:spPr>
        <p:txBody>
          <a:bodyPr>
            <a:normAutofit fontScale="90000"/>
          </a:bodyPr>
          <a:lstStyle/>
          <a:p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Project 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CSE-CYBERSECURITY &amp; INTERNET OF THINGS(ICB)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Data Engineering 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 V    Section: A          Regulation: R24             Course Code: R24MSCSP001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Project 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CSE-CYBERSECURITY &amp; INTERNET OF THINGS(ICB)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Data Engineering 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 V    Section: A          Regulation: R24             Course Code: R24MSCSP001</a:t>
            </a:r>
            <a:endParaRPr lang="en-IN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E56905-97E0-B3F0-64B4-B47506A51B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Abstract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A concise overview of VidyaUday and its core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886968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TextBox 9001"/>
          <p:cNvSpPr txBox="1"/>
          <p:nvPr/>
        </p:nvSpPr>
        <p:spPr>
          <a:xfrm>
            <a:off x="731520" y="1078992"/>
            <a:ext cx="106984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C2410C"/>
                </a:solidFill>
                <a:latin typeface="Times New Roman"/>
              </a:defRPr>
            </a:pPr>
            <a:r>
              <a:t>Background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🌾  Rural Student Guidance Gap: Lakhs of rural 10th and Intermediate students complete board exams without proper career guidance, unaware of free AI learning tools and government financial aid.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💸  Commercial Coaching Traps: Private apps charge ₹20,000–₹50,000 for guidance, while 100% free government resources, scholarships, and digitized textbooks remain undiscovered.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400" b="1">
                <a:solidFill>
                  <a:srgbClr val="C2410C"/>
                </a:solidFill>
                <a:latin typeface="Times New Roman"/>
              </a:defRPr>
            </a:pPr>
            <a:r>
              <a:t>Our Solution (VidyaUday)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🌐  All-in-One Free Web Platform: A mobile-friendly portal requiring zero login, no app installation, and zero personal data collection.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🤖  Seven Comprehensive Modules: Brings together 10+ free AI tools with copyable prompts, career roadmaps, a 30-sec scholarship checker, SCERT textbooks, coding guides, cyber scam defense, and Uday the Owl AI chatbot.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400" b="1">
                <a:solidFill>
                  <a:srgbClr val="C2410C"/>
                </a:solidFill>
                <a:latin typeface="Times New Roman"/>
              </a:defRPr>
            </a:pPr>
            <a:r>
              <a:t>Expected Outcome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🎓  Direct Student Empowerment: Saves cyber café application fees, helps rural students claim statutory scholarships, and builds foundational AI and digital literacy.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The challenge rural students face and what VidyaUday does about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TextBox 9001"/>
          <p:cNvSpPr txBox="1"/>
          <p:nvPr/>
        </p:nvSpPr>
        <p:spPr>
          <a:xfrm>
            <a:off x="731520" y="1078992"/>
            <a:ext cx="106984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1E3A8A"/>
                </a:solidFill>
                <a:latin typeface="Times New Roman"/>
              </a:defRPr>
            </a:pPr>
            <a:r>
              <a:t>The Rural Student Challenge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👥  Blind Decision Making: Lakhs of rural students pass 10th and Intermediate every year, choosing groups and colleges purely based on peer pressure or limited family knowledge.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💸  Exploitation by Intermediaries: Students pay ₹200–₹500 to private cyber cafés just to fill basic forms, often missing critical scholarship deadlines due to procedural complexity.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400" b="1">
                <a:solidFill>
                  <a:srgbClr val="1E3A8A"/>
                </a:solidFill>
                <a:latin typeface="Times New Roman"/>
              </a:defRPr>
            </a:pPr>
            <a:r>
              <a:t>The Information &amp; Language Barrier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🔍  Scattered Official Portals: Genuine welfare schemes and study materials exist, but they are buried across multiple English-only government websites without vernacular guidance.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400" b="1">
                <a:solidFill>
                  <a:srgbClr val="1E3A8A"/>
                </a:solidFill>
                <a:latin typeface="Times New Roman"/>
              </a:defRPr>
            </a:pPr>
            <a:r>
              <a:t>Our Platform: VidyaUday (Seven Essential Modules)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🦉  Unified Educational Portal: Combines 🤖 AI Tools, 🗺️ Career Roadmaps, 🏆 Scholarships, 📚 SCERT Books, 💻 Coding Practice, 🛡️ Cyber Scam Buster, and 🦉 Uday AI Chatbot under one roof.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Rural students are not short on ability — they are short on 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TextBox 9001"/>
          <p:cNvSpPr txBox="1"/>
          <p:nvPr/>
        </p:nvSpPr>
        <p:spPr>
          <a:xfrm>
            <a:off x="731520" y="1078992"/>
            <a:ext cx="106984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C2410C"/>
                </a:solidFill>
                <a:latin typeface="Times New Roman"/>
              </a:defRPr>
            </a:pPr>
            <a:r>
              <a:t>Core Problem Statement</a:t>
            </a:r>
          </a:p>
          <a:p>
            <a:pPr algn="just">
              <a:spcAft>
                <a:spcPts val="1200"/>
              </a:spcAft>
              <a:defRPr sz="2200">
                <a:solidFill>
                  <a:srgbClr val="1E293B"/>
                </a:solidFill>
                <a:latin typeface="Times New Roman"/>
              </a:defRPr>
            </a:pPr>
            <a:r>
              <a:t>Lakhs of rural 10th and Intermediate students face a severe guidance gap, making life-defining educational choices without awareness of emerging AI study tools, diverse career streams, or statutory government scholarships. Fragmented government portals, English-dominant websites, and aggressive commercial coaching fees systematically leave first-generation learners behind.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400" b="1">
                <a:solidFill>
                  <a:srgbClr val="C2410C"/>
                </a:solidFill>
                <a:latin typeface="Times New Roman"/>
              </a:defRPr>
            </a:pPr>
            <a:r>
              <a:t>Real Findings from Our Rural Student Survey</a:t>
            </a:r>
          </a:p>
          <a:p>
            <a:pPr algn="just">
              <a:spcAft>
                <a:spcPts val="5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❓  74.2% Lack Career Awareness: Unaware of viable diploma, vocational, or technical career options beyond traditional MPC/BiPC streams.</a:t>
            </a:r>
          </a:p>
          <a:p>
            <a:pPr algn="just">
              <a:spcAft>
                <a:spcPts val="5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💸  ₹50,000+ Aid Missed Annually: Deserving students miss out on government fee reimbursements simply due to lack of deadline visibility and application support.</a:t>
            </a:r>
          </a:p>
          <a:p>
            <a:pPr algn="just">
              <a:spcAft>
                <a:spcPts val="5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🤖  81.5% Never Used AI Tools: Have never utilized free AI tools like ChatGPT or Gemini to help with homework, maths problem-solving, or language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Five clear goals that define what VidyaUday sets out to achieve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TextBox 9001"/>
          <p:cNvSpPr txBox="1"/>
          <p:nvPr/>
        </p:nvSpPr>
        <p:spPr>
          <a:xfrm>
            <a:off x="731520" y="1078992"/>
            <a:ext cx="106984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1E3A8A"/>
                </a:solidFill>
                <a:latin typeface="Times New Roman"/>
              </a:defRPr>
            </a:pPr>
            <a:r>
              <a:t>Strategic Project Objectives</a:t>
            </a:r>
          </a:p>
          <a:p>
            <a:pPr algn="just">
              <a:spcAft>
                <a:spcPts val="6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🤖  Democratize Educational AI: Introduce rural students to 10+ free AI tools (ChatGPT, Gemini, Canva, Gamma) with 1-click copyable prompts for homework, maths, and essays.</a:t>
            </a:r>
          </a:p>
          <a:p>
            <a:pPr algn="just">
              <a:spcAft>
                <a:spcPts val="6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🗺️  Provide Clear Career Roadmaps: Deliver year-by-year paths after 10th &amp; Intermediate (MPC, BiPC, CEC, MEC, Polytechnic, ITI) with verified salary growth timelines.</a:t>
            </a:r>
          </a:p>
          <a:p>
            <a:pPr algn="just">
              <a:spcAft>
                <a:spcPts val="6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🏆  Automate Scholarship Discovery: Build a 30-second eligibility checker matching students to Central and State financial schemes with direct application links.</a:t>
            </a:r>
          </a:p>
          <a:p>
            <a:pPr algn="just">
              <a:spcAft>
                <a:spcPts val="6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🛡️  Teach Cyber Scam Defense: Equip students with practical digital safety skills, a 30-second readiness quiz, and guidance to detect fake scholarship traps.</a:t>
            </a:r>
          </a:p>
          <a:p>
            <a:pPr algn="just">
              <a:spcAft>
                <a:spcPts val="6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🦉  Deliver Bilingual AI Support: Provide Uday the Owl—a bilingual AI assistant powered by Google Gemini and Web Speech voice technology for instant student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Project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What VidyaUday includes — and what it deliberately does not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TextBox 9001"/>
          <p:cNvSpPr txBox="1"/>
          <p:nvPr/>
        </p:nvSpPr>
        <p:spPr>
          <a:xfrm>
            <a:off x="731520" y="1078992"/>
            <a:ext cx="106984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C2410C"/>
                </a:solidFill>
                <a:latin typeface="Times New Roman"/>
              </a:defRPr>
            </a:pPr>
            <a:r>
              <a:t>In-Scope (Platform Capabilities)</a:t>
            </a:r>
          </a:p>
          <a:p>
            <a:pPr algn="just">
              <a:spcAft>
                <a:spcPts val="5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🎓  Target Audience: Comprehensive coverage tailored specifically for rural 10th (SSC), Intermediate (+2), Polytechnic, and ITI students.</a:t>
            </a:r>
          </a:p>
          <a:p>
            <a:pPr algn="just">
              <a:spcAft>
                <a:spcPts val="5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🤖  Core Platform Features: 10+ AI Tools Directory, Google Gemini AI Chatbot, Career Stream Explorer, 30-Sec Scholarship Checker, SCERT Books Hub, and Cyber Scam Buster.</a:t>
            </a:r>
          </a:p>
          <a:p>
            <a:pPr algn="just">
              <a:spcAft>
                <a:spcPts val="5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📱  Universal Accessibility: 100% mobile-responsive design, offline printable PDF packs, and English-Telugu synthesized voice assistance.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2400" b="1">
                <a:solidFill>
                  <a:srgbClr val="C2410C"/>
                </a:solidFill>
                <a:latin typeface="Times New Roman"/>
              </a:defRPr>
            </a:pPr>
            <a:r>
              <a:t>Out-of-Scope (Deliberate Boundaries)</a:t>
            </a:r>
          </a:p>
          <a:p>
            <a:pPr algn="just">
              <a:spcAft>
                <a:spcPts val="5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🏫  Not a Classroom Replacement: Designed strictly as an informational and career guidance bridge, not as a substitute for classroom teachers or school syllabi.</a:t>
            </a:r>
          </a:p>
          <a:p>
            <a:pPr algn="just">
              <a:spcAft>
                <a:spcPts val="5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💳  No Financial Processing: Does not collect banking details or disburse funds; safely redirects students to official government portals (NSP, ePASS).</a:t>
            </a:r>
          </a:p>
          <a:p>
            <a:pPr algn="just">
              <a:spcAft>
                <a:spcPts val="5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🔒  Zero Backend Data Tracking: Operates client-side without storing user phone numbers, passwords, or personal records, ensuring complete student privacy.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Literature Review / Background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Existing platforms and why they fall short for rural students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TextBox 9001"/>
          <p:cNvSpPr txBox="1"/>
          <p:nvPr/>
        </p:nvSpPr>
        <p:spPr>
          <a:xfrm>
            <a:off x="731520" y="1078992"/>
            <a:ext cx="106984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1E3A8A"/>
                </a:solidFill>
                <a:latin typeface="Times New Roman"/>
              </a:defRPr>
            </a:pPr>
            <a:r>
              <a:t>Key Research Findings &amp; Literature Analysis</a:t>
            </a:r>
          </a:p>
          <a:p>
            <a:pPr algn="just">
              <a:spcAft>
                <a:spcPts val="5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📜  NEP 2020 Recommendations: Highlights the critical importance of early career counselling, mother-tongue educational resources, and foundational AI literacy for school students.</a:t>
            </a:r>
          </a:p>
          <a:p>
            <a:pPr algn="just">
              <a:spcAft>
                <a:spcPts val="5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📊  ASER Rural Technology Survey: Reports show that while smartphone penetration among rural families exceeds 75%, educational use is crippled by English-only interfaces and complex navigation.</a:t>
            </a:r>
          </a:p>
          <a:p>
            <a:pPr algn="just">
              <a:spcAft>
                <a:spcPts val="5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🏛️  Government Portals (NSP &amp; ePASS): Provide essential financial welfare but suffer from multi-layered portals that force rural students to depend on paid cyber café agents.</a:t>
            </a:r>
          </a:p>
          <a:p>
            <a:pPr algn="just">
              <a:spcAft>
                <a:spcPts val="5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💸  Commercial EdTech Paywalls: Private guidance and career platforms lock access behind paywalls of ₹20,000–₹50,000/year, catering only to affluent urban learners.</a:t>
            </a:r>
          </a:p>
          <a:p>
            <a:pPr algn="just">
              <a:spcAft>
                <a:spcPts val="5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💡  The VidyaUday Bridge: Fills this critical societal gap with a 100% free, lightweight, bilingual portal uniting career guidance, scholarships, AI tools, and digital safety.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VidyaUday vs Competitors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Feature-by-feature comparison — what makes VidyaUday unique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02" name="Table 9001"/>
          <p:cNvGraphicFramePr>
            <a:graphicFrameLocks noGrp="1"/>
          </p:cNvGraphicFramePr>
          <p:nvPr/>
        </p:nvGraphicFramePr>
        <p:xfrm>
          <a:off x="731520" y="1143000"/>
          <a:ext cx="106984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828800"/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VidyaUday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Govt Portals (NSP)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Private EdTech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Static PDFs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Access Cost &amp; 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C2410C"/>
                          </a:solidFill>
                          <a:latin typeface="Times New Roman"/>
                        </a:defRPr>
                      </a:pPr>
                      <a:r>
                        <a:t>100% Free / No 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Free (Complex UI)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₹20,000–₹50,000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Curated AI Tools &amp; Prompts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C2410C"/>
                          </a:solidFill>
                          <a:latin typeface="Times New Roman"/>
                        </a:defRPr>
                      </a:pPr>
                      <a:r>
                        <a:t>Yes (10+ Free Tools)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No AI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Paid AI Tutors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Gemini AI Voice Chatbot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C2410C"/>
                          </a:solidFill>
                          <a:latin typeface="Times New Roman"/>
                        </a:defRPr>
                      </a:pPr>
                      <a:r>
                        <a:t>Yes (Uday the Owl)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No Chatbot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Text-Only Paid Bot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Interactive Career Roadmaps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C2410C"/>
                          </a:solidFill>
                          <a:latin typeface="Times New Roman"/>
                        </a:defRPr>
                      </a:pPr>
                      <a:r>
                        <a:t>Yes (Year-by-Year Paths)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No (Raw Notices)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Yes (Paid Paywall)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Static Lists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Dual-State Scholarship Checker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C2410C"/>
                          </a:solidFill>
                          <a:latin typeface="Times New Roman"/>
                        </a:defRPr>
                      </a:pPr>
                      <a:r>
                        <a:t>Yes (30-Sec Quiz &amp; Matrix)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Separate State Logins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Digital Literacy &amp; Scam Buster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C2410C"/>
                          </a:solidFill>
                          <a:latin typeface="Times New Roman"/>
                        </a:defRPr>
                      </a:pPr>
                      <a:r>
                        <a:t>Yes (Quiz + Scam Guide)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Data Gathered / Data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Every module is powered by real, verified field and educational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TextBox 9001"/>
          <p:cNvSpPr txBox="1"/>
          <p:nvPr/>
        </p:nvSpPr>
        <p:spPr>
          <a:xfrm>
            <a:off x="731520" y="1078992"/>
            <a:ext cx="106984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C2410C"/>
                </a:solidFill>
                <a:latin typeface="Times New Roman"/>
              </a:defRPr>
            </a:pPr>
            <a:r>
              <a:t>Primary Field Research (Rural Student Outreach Survey)</a:t>
            </a:r>
          </a:p>
          <a:p>
            <a:pPr algn="just">
              <a:spcAft>
                <a:spcPts val="4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📋  Field Survey of 120+ Students: Conducted direct interactive surveys with high school and junior college students in rural mandals.</a:t>
            </a:r>
          </a:p>
          <a:p>
            <a:pPr algn="just">
              <a:spcAft>
                <a:spcPts val="4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❓  Lack of Alternatives: 74.2% of students did not know about polytechnic, ITI, or vocational careers beyond traditional MPC/BiPC.</a:t>
            </a:r>
          </a:p>
          <a:p>
            <a:pPr algn="just">
              <a:spcAft>
                <a:spcPts val="4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🤖  Zero AI Exposure: 81.5% had never used AI study assistants, believing AI is only for software engineers.</a:t>
            </a:r>
          </a:p>
          <a:p>
            <a:pPr algn="just">
              <a:spcAft>
                <a:spcPts val="4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💸  Scholarship Information Gap: 68.4% of eligible students missed government financial aid deadlines due to procedural confusion.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400" b="1">
                <a:solidFill>
                  <a:srgbClr val="C2410C"/>
                </a:solidFill>
                <a:latin typeface="Times New Roman"/>
              </a:defRPr>
            </a:pPr>
            <a:r>
              <a:t>Secondary Data &amp; Official Sources Curated</a:t>
            </a:r>
          </a:p>
          <a:p>
            <a:pPr algn="just">
              <a:spcAft>
                <a:spcPts val="4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🤖  AI Tools &amp; Prompt Library: Curated 10+ free tools (ChatGPT, Gemini, Canva, Gamma, GitHub) with tested student prompt templates.</a:t>
            </a:r>
          </a:p>
          <a:p>
            <a:pPr algn="just">
              <a:spcAft>
                <a:spcPts val="4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🗺️  Career Progression Data: Mapped 11 complete academic streams after 10th and 12th with real-world entry-to-senior salary trends.</a:t>
            </a:r>
          </a:p>
          <a:p>
            <a:pPr algn="just">
              <a:spcAft>
                <a:spcPts val="4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🏆  Statutory Welfare Gazettes: Codified official scholarship rules from AP Social Welfare (JVD/JVD), Telangana ePASS, and NSP Central Schemes.</a:t>
            </a:r>
          </a:p>
          <a:p>
            <a:pPr algn="just">
              <a:spcAft>
                <a:spcPts val="4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📚  Official Curriculum Data: Mapped authentic digitized textbook repositories from official state SCERT and SWAYAM portals.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391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Methodology / System Design — Flow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A guided five-step journey from confusion to a confident, informed 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Rounded Rectangle 9001"/>
          <p:cNvSpPr/>
          <p:nvPr/>
        </p:nvSpPr>
        <p:spPr>
          <a:xfrm>
            <a:off x="731520" y="1143000"/>
            <a:ext cx="10698480" cy="8412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spcAft>
                <a:spcPts val="200"/>
              </a:spcAft>
              <a:defRPr sz="2000" b="1">
                <a:solidFill>
                  <a:srgbClr val="C2410C"/>
                </a:solidFill>
                <a:latin typeface="Times New Roman"/>
              </a:defRPr>
            </a:pPr>
            <a:r>
              <a:t>1. Student Visits VidyaUday</a:t>
            </a:r>
          </a:p>
          <a:p>
            <a:pPr algn="ctr">
              <a:defRPr sz="1800">
                <a:solidFill>
                  <a:srgbClr val="1E293B"/>
                </a:solidFill>
                <a:latin typeface="Times New Roman"/>
              </a:defRPr>
            </a:pPr>
            <a:r>
              <a:t>Opens lightweight web platform on any mobile browser with zero login, no app installation, and zero ads.</a:t>
            </a:r>
          </a:p>
        </p:txBody>
      </p:sp>
      <p:sp>
        <p:nvSpPr>
          <p:cNvPr id="9003" name="Rounded Rectangle 9002"/>
          <p:cNvSpPr/>
          <p:nvPr/>
        </p:nvSpPr>
        <p:spPr>
          <a:xfrm>
            <a:off x="731520" y="2130552"/>
            <a:ext cx="10698480" cy="84124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spcAft>
                <a:spcPts val="200"/>
              </a:spcAft>
              <a:defRPr sz="2000" b="1">
                <a:solidFill>
                  <a:srgbClr val="C2410C"/>
                </a:solidFill>
                <a:latin typeface="Times New Roman"/>
              </a:defRPr>
            </a:pPr>
            <a:r>
              <a:t>2. Module Selection</a:t>
            </a:r>
          </a:p>
          <a:p>
            <a:pPr algn="ctr">
              <a:defRPr sz="1800">
                <a:solidFill>
                  <a:srgbClr val="1E293B"/>
                </a:solidFill>
                <a:latin typeface="Times New Roman"/>
              </a:defRPr>
            </a:pPr>
            <a:r>
              <a:t>Chooses from 🤖 AI Tools, 🗺️ Career Roadmaps, 🏆 Scholarships, 📚 SCERT Books, 💻 Coding, or 🛡️ Scam Buster.</a:t>
            </a:r>
          </a:p>
        </p:txBody>
      </p:sp>
      <p:sp>
        <p:nvSpPr>
          <p:cNvPr id="9004" name="Rounded Rectangle 9003"/>
          <p:cNvSpPr/>
          <p:nvPr/>
        </p:nvSpPr>
        <p:spPr>
          <a:xfrm>
            <a:off x="731520" y="3118104"/>
            <a:ext cx="10698480" cy="8412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spcAft>
                <a:spcPts val="200"/>
              </a:spcAft>
              <a:defRPr sz="2000" b="1">
                <a:solidFill>
                  <a:srgbClr val="C2410C"/>
                </a:solidFill>
                <a:latin typeface="Times New Roman"/>
              </a:defRPr>
            </a:pPr>
            <a:r>
              <a:t>3. Student Interacts or Asks Uday</a:t>
            </a:r>
          </a:p>
          <a:p>
            <a:pPr algn="ctr">
              <a:defRPr sz="1800">
                <a:solidFill>
                  <a:srgbClr val="1E293B"/>
                </a:solidFill>
                <a:latin typeface="Times New Roman"/>
              </a:defRPr>
            </a:pPr>
            <a:r>
              <a:t>Inputs class stream or asks questions directly to Uday the Owl AI assistant via voice or text in Telugu or English.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31520" y="4105656"/>
            <a:ext cx="10698480" cy="84124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spcAft>
                <a:spcPts val="200"/>
              </a:spcAft>
              <a:defRPr sz="2000" b="1">
                <a:solidFill>
                  <a:srgbClr val="C2410C"/>
                </a:solidFill>
                <a:latin typeface="Times New Roman"/>
              </a:defRPr>
            </a:pPr>
            <a:r>
              <a:t>4. Instant Client-Side Processing</a:t>
            </a:r>
          </a:p>
          <a:p>
            <a:pPr algn="ctr">
              <a:defRPr sz="1800">
                <a:solidFill>
                  <a:srgbClr val="1E293B"/>
                </a:solidFill>
                <a:latin typeface="Times New Roman"/>
              </a:defRPr>
            </a:pPr>
            <a:r>
              <a:t>JavaScript rule engine evaluates eligibility matrix, filters curated schemes, and renders personalized results.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731520" y="5093208"/>
            <a:ext cx="10698480" cy="8412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spcAft>
                <a:spcPts val="200"/>
              </a:spcAft>
              <a:defRPr sz="2000" b="1">
                <a:solidFill>
                  <a:srgbClr val="C2410C"/>
                </a:solidFill>
                <a:latin typeface="Times New Roman"/>
              </a:defRPr>
            </a:pPr>
            <a:r>
              <a:t>5. Empowered Student Action</a:t>
            </a:r>
          </a:p>
          <a:p>
            <a:pPr algn="ctr">
              <a:defRPr sz="1800">
                <a:solidFill>
                  <a:srgbClr val="1E293B"/>
                </a:solidFill>
                <a:latin typeface="Times New Roman"/>
              </a:defRPr>
            </a:pPr>
            <a:r>
              <a:t>Student accesses official apply links, copies AI prompts for homework, or downloads offline study packs.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Methodology / System Design — Block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Four-layer architecture that powers the VidyaUday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Rounded Rectangle 9001"/>
          <p:cNvSpPr/>
          <p:nvPr/>
        </p:nvSpPr>
        <p:spPr>
          <a:xfrm>
            <a:off x="731520" y="1188720"/>
            <a:ext cx="10698480" cy="10515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 bIns="109728"/>
          <a:lstStyle/>
          <a:p>
            <a:pPr algn="ctr">
              <a:spcAft>
                <a:spcPts val="300"/>
              </a:spcAft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t>Layer 1: Presentation &amp; User Interface Layer</a:t>
            </a:r>
          </a:p>
          <a:p>
            <a:pPr algn="ctr">
              <a:defRPr sz="1800">
                <a:solidFill>
                  <a:srgbClr val="1E293B"/>
                </a:solidFill>
                <a:latin typeface="Times New Roman"/>
              </a:defRPr>
            </a:pPr>
            <a:r>
              <a:t>Responsive Mobile-First UI (HTML5/CSS3)  •  Bilingual Switcher (English/Telugu)  •  Web Speech Voice Engine  •  Clean Accessibility</a:t>
            </a:r>
          </a:p>
        </p:txBody>
      </p:sp>
      <p:sp>
        <p:nvSpPr>
          <p:cNvPr id="9003" name="Rounded Rectangle 9002"/>
          <p:cNvSpPr/>
          <p:nvPr/>
        </p:nvSpPr>
        <p:spPr>
          <a:xfrm>
            <a:off x="731520" y="2432304"/>
            <a:ext cx="106984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 bIns="109728"/>
          <a:lstStyle/>
          <a:p>
            <a:pPr algn="ctr">
              <a:spcAft>
                <a:spcPts val="300"/>
              </a:spcAft>
              <a:defRPr sz="2100" b="1">
                <a:solidFill>
                  <a:srgbClr val="C2410C"/>
                </a:solidFill>
                <a:latin typeface="Times New Roman"/>
              </a:defRPr>
            </a:pPr>
            <a:r>
              <a:t>Layer 2: Core Feature Modules</a:t>
            </a:r>
          </a:p>
          <a:p>
            <a:pPr algn="ctr">
              <a:defRPr sz="1800">
                <a:solidFill>
                  <a:srgbClr val="1E293B"/>
                </a:solidFill>
                <a:latin typeface="Times New Roman"/>
              </a:defRPr>
            </a:pPr>
            <a:r>
              <a:t>🤖 AI Tools Hub  •  🦉 Uday Owl Chatbot  •  🗺️ Career Roadmaps  •  🏆 Scholarship Finder  •  📚 SCERT Textbooks  •  🛡️ Scam Buster</a:t>
            </a:r>
          </a:p>
        </p:txBody>
      </p:sp>
      <p:sp>
        <p:nvSpPr>
          <p:cNvPr id="9004" name="Rounded Rectangle 9003"/>
          <p:cNvSpPr/>
          <p:nvPr/>
        </p:nvSpPr>
        <p:spPr>
          <a:xfrm>
            <a:off x="731520" y="3675888"/>
            <a:ext cx="10698480" cy="1051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 bIns="109728"/>
          <a:lstStyle/>
          <a:p>
            <a:pPr algn="ctr">
              <a:spcAft>
                <a:spcPts val="300"/>
              </a:spcAft>
              <a:defRPr sz="2100" b="1">
                <a:solidFill>
                  <a:srgbClr val="059669"/>
                </a:solidFill>
                <a:latin typeface="Times New Roman"/>
              </a:defRPr>
            </a:pPr>
            <a:r>
              <a:t>Layer 3: AI &amp; Client-Side Logic Engine</a:t>
            </a:r>
          </a:p>
          <a:p>
            <a:pPr algn="ctr">
              <a:defRPr sz="1800">
                <a:solidFill>
                  <a:srgbClr val="1E293B"/>
                </a:solidFill>
                <a:latin typeface="Times New Roman"/>
              </a:defRPr>
            </a:pPr>
            <a:r>
              <a:t>Google Gemini 1.5 Flash API  •  Web Speech Voice Synthesis  •  JavaScript Decision Tree Matrix  •  LocalStorage Offline Cache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31520" y="4919472"/>
            <a:ext cx="1069848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 bIns="109728"/>
          <a:lstStyle/>
          <a:p>
            <a:pPr algn="ctr">
              <a:spcAft>
                <a:spcPts val="300"/>
              </a:spcAft>
              <a:defRPr sz="2100" b="1">
                <a:solidFill>
                  <a:srgbClr val="059669"/>
                </a:solidFill>
                <a:latin typeface="Times New Roman"/>
              </a:defRPr>
            </a:pPr>
            <a:r>
              <a:t>Layer 4: Data &amp; Verification Layer</a:t>
            </a:r>
          </a:p>
          <a:p>
            <a:pPr algn="ctr">
              <a:defRPr sz="1800">
                <a:solidFill>
                  <a:srgbClr val="1E293B"/>
                </a:solidFill>
                <a:latin typeface="Times New Roman"/>
              </a:defRPr>
            </a:pPr>
            <a:r>
              <a:t>Curated Student AI Prompts  •  Official Welfare Gazettes (JVD &amp; ePASS)  •  National Scholarship Portal  •  SCERT Curriculum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Implementation / Core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Comprehensive features built and verified on the live VidyaUday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TextBox 9001"/>
          <p:cNvSpPr txBox="1"/>
          <p:nvPr/>
        </p:nvSpPr>
        <p:spPr>
          <a:xfrm>
            <a:off x="731520" y="1078992"/>
            <a:ext cx="106984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C2410C"/>
                </a:solidFill>
                <a:latin typeface="Times New Roman"/>
              </a:defRPr>
            </a:pPr>
            <a:r>
              <a:t>Platform Implementation Modules</a:t>
            </a:r>
          </a:p>
          <a:p>
            <a:pPr algn="just">
              <a:spcAft>
                <a:spcPts val="400"/>
              </a:spcAft>
              <a:defRPr sz="1900">
                <a:solidFill>
                  <a:srgbClr val="1E293B"/>
                </a:solidFill>
                <a:latin typeface="Times New Roman"/>
              </a:defRPr>
            </a:pPr>
            <a:r>
              <a:t>🤖  AI Tools &amp; Prompt Templates: Curated 10+ free AI tools (ChatGPT, Gemini, Canva, Gamma) with 1-click copyable prompts for maths problem-solving, essay outlines, and Telugu translation.</a:t>
            </a:r>
          </a:p>
          <a:p>
            <a:pPr algn="just">
              <a:spcAft>
                <a:spcPts val="400"/>
              </a:spcAft>
              <a:defRPr sz="1900">
                <a:solidFill>
                  <a:srgbClr val="1E293B"/>
                </a:solidFill>
                <a:latin typeface="Times New Roman"/>
              </a:defRPr>
            </a:pPr>
            <a:r>
              <a:t>🦉  Uday the Owl AI Assistant: Trilingual chatbot powered by Google Gemini 1.5 Flash API with Web Speech voice input and voice reading in English, Telugu, and Hindi.</a:t>
            </a:r>
          </a:p>
          <a:p>
            <a:pPr algn="just">
              <a:spcAft>
                <a:spcPts val="400"/>
              </a:spcAft>
              <a:defRPr sz="1900">
                <a:solidFill>
                  <a:srgbClr val="1E293B"/>
                </a:solidFill>
                <a:latin typeface="Times New Roman"/>
              </a:defRPr>
            </a:pPr>
            <a:r>
              <a:t>🗺️  Interactive Career Roadmaps: Step-by-step career path mapping after 10th and 12th covering MPC, BiPC, CEC, MEC, Polytechnic, and ITI with degree outcomes and real salary growth timelines.</a:t>
            </a:r>
          </a:p>
          <a:p>
            <a:pPr algn="just">
              <a:spcAft>
                <a:spcPts val="400"/>
              </a:spcAft>
              <a:defRPr sz="1900">
                <a:solidFill>
                  <a:srgbClr val="1E293B"/>
                </a:solidFill>
                <a:latin typeface="Times New Roman"/>
              </a:defRPr>
            </a:pPr>
            <a:r>
              <a:t>🏆  Scholarship Checker &amp; Matrix: 30-second eligibility checker evaluating caste, income, and class against Central and State schemes, complete with a side-by-side comparison matrix.</a:t>
            </a:r>
          </a:p>
          <a:p>
            <a:pPr algn="just">
              <a:spcAft>
                <a:spcPts val="400"/>
              </a:spcAft>
              <a:defRPr sz="1900">
                <a:solidFill>
                  <a:srgbClr val="1E293B"/>
                </a:solidFill>
                <a:latin typeface="Times New Roman"/>
              </a:defRPr>
            </a:pPr>
            <a:r>
              <a:t>📚  Learning Hub &amp; SCERT Books: 1-click access to digitized state SCERT textbooks, DIKSHA, SWAYAM, and NPTEL free certification platforms.</a:t>
            </a:r>
          </a:p>
          <a:p>
            <a:pPr algn="just">
              <a:spcAft>
                <a:spcPts val="400"/>
              </a:spcAft>
              <a:defRPr sz="1900">
                <a:solidFill>
                  <a:srgbClr val="1E293B"/>
                </a:solidFill>
                <a:latin typeface="Times New Roman"/>
              </a:defRPr>
            </a:pPr>
            <a:r>
              <a:t>🛡️  Digital Literacy &amp; Scam Buster: 3-mode hub featuring student digital safety checklists, a 30-second readiness self-assessment quiz, and guides to detect fake scholarship scams.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Real production screens demonstrating interactive student capabilities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VidyaUday Live Platform Screenshots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0" y="356616"/>
            <a:ext cx="1051560" cy="676656"/>
          </a:xfrm>
          <a:prstGeom prst="rect">
            <a:avLst/>
          </a:prstGeom>
        </p:spPr>
      </p:pic>
      <p:pic>
        <p:nvPicPr>
          <p:cNvPr id="13" name="Picture 12" descr="schol_01_hub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1143000"/>
            <a:ext cx="5212080" cy="2240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34290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t>Screen 1: Scholarship Discovery Hub</a:t>
            </a:r>
          </a:p>
        </p:txBody>
      </p:sp>
      <p:pic>
        <p:nvPicPr>
          <p:cNvPr id="15" name="Picture 14" descr="v2_01_roadmaps_ta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1143000"/>
            <a:ext cx="5212080" cy="2240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34290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t>Screen 2: Interactive Career Roadmaps</a:t>
            </a:r>
          </a:p>
        </p:txBody>
      </p:sp>
      <p:pic>
        <p:nvPicPr>
          <p:cNvPr id="17" name="Picture 16" descr="schol_03_checker_resul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840480"/>
            <a:ext cx="5212080" cy="2240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61264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t>Screen 3: AP/TS Eligibility Matcher</a:t>
            </a:r>
          </a:p>
        </p:txBody>
      </p:sp>
      <p:pic>
        <p:nvPicPr>
          <p:cNvPr id="19" name="Picture 18" descr="digital_01_skills_al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0" y="3840480"/>
            <a:ext cx="5212080" cy="2240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920" y="61264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t>Screen 4: Digital Literacy &amp; Scam Buster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Impact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Technical, social, and economic impact of the VidyaUday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TextBox 9001"/>
          <p:cNvSpPr txBox="1"/>
          <p:nvPr/>
        </p:nvSpPr>
        <p:spPr>
          <a:xfrm>
            <a:off x="731520" y="1078992"/>
            <a:ext cx="106984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1E3A8A"/>
                </a:solidFill>
                <a:latin typeface="Times New Roman"/>
              </a:defRPr>
            </a:pPr>
            <a:r>
              <a:t>Social &amp; Educational Impact on Rural Students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🎓  Informed Career Choices: Breaks peer pressure by helping rural students explore diploma, vocational, and non-traditional careers with clear degree outcomes.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💸  Eliminates Cyber Café Charges: Empowers students to discover schemes and apply directly without paying ₹200–₹500 in service charges for each form.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🛡️  Builds Cyber Hygiene &amp; Safety: Trains first-generation internet users to avoid online scam traps, protect OTPs, and report cyber fraud to helpline 1930.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400" b="1">
                <a:solidFill>
                  <a:srgbClr val="1E3A8A"/>
                </a:solidFill>
                <a:latin typeface="Times New Roman"/>
              </a:defRPr>
            </a:pPr>
            <a:r>
              <a:t>Technological Impact &amp; Innovation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⚡  Sub-1.5s Load Time on 3G: High-speed, responsive single-page architecture optimized for low-cost smartphones and rural mobile networks.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🤖  Real AI &amp; Voice Integration: Integrates Google Gemini 1.5 Flash API and Web Speech API into a zero-login, privacy-first web application.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Challenges Faced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Key obstacles encountered during development and how each one was resolved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TextBox 9001"/>
          <p:cNvSpPr txBox="1"/>
          <p:nvPr/>
        </p:nvSpPr>
        <p:spPr>
          <a:xfrm>
            <a:off x="731520" y="1078992"/>
            <a:ext cx="106984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C2410C"/>
                </a:solidFill>
                <a:latin typeface="Times New Roman"/>
              </a:defRPr>
            </a:pPr>
            <a:r>
              <a:t>Key Challenges &amp; Engineering Solutions</a:t>
            </a:r>
          </a:p>
          <a:p>
            <a:pPr algn="just">
              <a:spcAft>
                <a:spcPts val="8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🤖  Making AI Accessible to School Students: Challenge: Rural students do not know how to prompt AI tools like ChatGPT or Gemini effectively. Solution: Created 1-click copyable prompt cards tailored specifically for homework help, maths problem-solving, and vernacular translation.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⚖️  Handling Diverse Government Scholarship Rules: Challenge: Central and State scholarship schemes maintain divergent eligibility rules, income caps, and portal structures. Solution: Engineered a unified, state-aware JSON decision rule engine that dynamically evaluates student profiles in seconds.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1E293B"/>
                </a:solidFill>
                <a:latin typeface="Times New Roman"/>
              </a:defRPr>
            </a:pPr>
            <a:r>
              <a:t>📶  Rural Internet &amp; Low-Spec Device Constraints: Challenge: Rural students predominantly browse on basic smartphones with intermittent mobile connectivity. Solution: Replaced resource-heavy frameworks with pure lightweight JavaScript, clean CSS, SVG icons, and printable offline download packs.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What VidyaUday proves — and what it means for every rural student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TextBox 9001"/>
          <p:cNvSpPr txBox="1"/>
          <p:nvPr/>
        </p:nvSpPr>
        <p:spPr>
          <a:xfrm>
            <a:off x="731520" y="1078992"/>
            <a:ext cx="106984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1E3A8A"/>
                </a:solidFill>
                <a:latin typeface="Times New Roman"/>
              </a:defRPr>
            </a:pPr>
            <a:r>
              <a:t>Summary of Project Achievements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🏆  Built a Production-Ready Platform: Successfully deployed VidyaUday as a 100% free, all-in-one educational guidance platform for rural students.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🤖  United AI Tools, Roadmaps &amp; Scholarships: Centralized curated AI tools, interactive career streams, government scholarships, and SCERT textbooks into one clean web portal.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🦉  Integrated Conversational AI &amp; Speech: Integrated Google Gemini 1.5 Flash API and Web Speech voice technology so language is never a barrier.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2400" b="1">
                <a:solidFill>
                  <a:srgbClr val="1E3A8A"/>
                </a:solidFill>
                <a:latin typeface="Times New Roman"/>
              </a:defRPr>
            </a:pPr>
            <a:r>
              <a:t>Final Project Takeaway</a:t>
            </a:r>
          </a:p>
          <a:p>
            <a:pPr algn="just">
              <a:spcAft>
                <a:spcPts val="4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🌟  VidyaUday demonstrates that accessible, thoughtful technology can bridge the rural education divide. By placing high-quality guidance, scholarship access, and digital literacy directly into students' hands at zero cost, we empower rural youth to make confident, informed choices for their future.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Planned enhancements that will take VidyaUday to the next 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TextBox 9001"/>
          <p:cNvSpPr txBox="1"/>
          <p:nvPr/>
        </p:nvSpPr>
        <p:spPr>
          <a:xfrm>
            <a:off x="731520" y="1078992"/>
            <a:ext cx="106984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C2410C"/>
                </a:solidFill>
                <a:latin typeface="Times New Roman"/>
              </a:defRPr>
            </a:pPr>
            <a:r>
              <a:t>Roadmap for Future Platform Enhancements</a:t>
            </a:r>
          </a:p>
          <a:p>
            <a:pPr algn="just">
              <a:spcAft>
                <a:spcPts val="6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📲  Progressive Web App (PWA) Offline Engine: Implement service-worker caching to allow students to access career roadmaps, guides, and prompts with zero internet connectivity.</a:t>
            </a:r>
          </a:p>
          <a:p>
            <a:pPr algn="just">
              <a:spcAft>
                <a:spcPts val="6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🤖  Automated WhatsApp &amp; Telegram Alert Bot: Develop an automated vernacular bot sending scholarship deadline reminders, entrance exam alerts, and career FAQs directly to family phones.</a:t>
            </a:r>
          </a:p>
          <a:p>
            <a:pPr algn="just">
              <a:spcAft>
                <a:spcPts val="6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🤝  College Student Mentorship Network: Establish a digital volunteer bridge connecting senior engineering students from MVGR College with rural school students for 1-on-1 career guidance.</a:t>
            </a:r>
          </a:p>
          <a:p>
            <a:pPr algn="just">
              <a:spcAft>
                <a:spcPts val="600"/>
              </a:spcAft>
              <a:defRPr sz="2100">
                <a:solidFill>
                  <a:srgbClr val="1E293B"/>
                </a:solidFill>
                <a:latin typeface="Times New Roman"/>
              </a:defRPr>
            </a:pPr>
            <a:r>
              <a:t>📦  Native Ultra-Lightweight Android APK: Package the platform into a standalone 2MB Android application distributed freely through village schools, Grama Sachivalayams, and local libraries.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6576" cy="6583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475569"/>
                </a:solidFill>
                <a:latin typeface="Times New Roman"/>
              </a:defRPr>
            </a:pPr>
            <a:r>
              <a:t>Sources consulted and official platforms referenced in building VidyaUday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96112"/>
            <a:ext cx="113385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75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Times New Roman"/>
              </a:rPr>
              <a:t>VidyaUday  |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6751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Times New Roman"/>
              </a:rPr>
              <a:t>03-07-2026</a:t>
            </a:r>
          </a:p>
        </p:txBody>
      </p:sp>
      <p:pic>
        <p:nvPicPr>
          <p:cNvPr id="9001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880203" y="354336"/>
            <a:ext cx="1049749" cy="677182"/>
          </a:xfrm>
          <a:prstGeom prst="rect">
            <a:avLst/>
          </a:prstGeom>
          <a:noFill/>
          <a:ln>
            <a:noFill/>
          </a:ln>
        </p:spPr>
      </p:pic>
      <p:sp>
        <p:nvSpPr>
          <p:cNvPr id="9002" name="TextBox 9001"/>
          <p:cNvSpPr txBox="1"/>
          <p:nvPr/>
        </p:nvSpPr>
        <p:spPr>
          <a:xfrm>
            <a:off x="731520" y="1078992"/>
            <a:ext cx="106984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1E3A8A"/>
                </a:solidFill>
                <a:latin typeface="Times New Roman"/>
              </a:defRPr>
            </a:pPr>
            <a:r>
              <a:t>Academic &amp; Statutory References</a:t>
            </a:r>
          </a:p>
          <a:p>
            <a:pPr algn="just">
              <a:spcAft>
                <a:spcPts val="500"/>
              </a:spcAft>
              <a:defRPr sz="1900">
                <a:solidFill>
                  <a:srgbClr val="1E293B"/>
                </a:solidFill>
                <a:latin typeface="Times New Roman"/>
              </a:defRPr>
            </a:pPr>
            <a:r>
              <a:t>🏛️  [1] National Education Policy (NEP 2020), Ministry of Education, Government of India, New Delhi.</a:t>
            </a:r>
          </a:p>
          <a:p>
            <a:pPr algn="just">
              <a:spcAft>
                <a:spcPts val="500"/>
              </a:spcAft>
              <a:defRPr sz="1900">
                <a:solidFill>
                  <a:srgbClr val="1E293B"/>
                </a:solidFill>
                <a:latin typeface="Times New Roman"/>
              </a:defRPr>
            </a:pPr>
            <a:r>
              <a:t>🌐  [2] National Scholarship Portal (NSP), Ministry of Electronics &amp; IT, Govt of India: https://scholarships.gov.in</a:t>
            </a:r>
          </a:p>
          <a:p>
            <a:pPr algn="just">
              <a:spcAft>
                <a:spcPts val="500"/>
              </a:spcAft>
              <a:defRPr sz="1900">
                <a:solidFill>
                  <a:srgbClr val="1E293B"/>
                </a:solidFill>
                <a:latin typeface="Times New Roman"/>
              </a:defRPr>
            </a:pPr>
            <a:r>
              <a:t>📑  [3] State Social Welfare Department Gazettes &amp; ePASS Electronic Scholarship System: https://telanganaepass.cgg.gov.in</a:t>
            </a:r>
          </a:p>
          <a:p>
            <a:pPr algn="just">
              <a:spcAft>
                <a:spcPts val="500"/>
              </a:spcAft>
              <a:defRPr sz="1900">
                <a:solidFill>
                  <a:srgbClr val="1E293B"/>
                </a:solidFill>
                <a:latin typeface="Times New Roman"/>
              </a:defRPr>
            </a:pPr>
            <a:r>
              <a:t>🤖  [4] Google Gemini API Documentation, Google AI for Developers, Generative Language API, 2024.</a:t>
            </a:r>
          </a:p>
          <a:p>
            <a:pPr algn="just">
              <a:spcAft>
                <a:spcPts val="500"/>
              </a:spcAft>
              <a:defRPr sz="1900">
                <a:solidFill>
                  <a:srgbClr val="1E293B"/>
                </a:solidFill>
                <a:latin typeface="Times New Roman"/>
              </a:defRPr>
            </a:pPr>
            <a:r>
              <a:t>📊  [5] Pratham Education Foundation, "Annual Status of Education Report (ASER): Beyond Basics," New Delhi.</a:t>
            </a:r>
          </a:p>
          <a:p>
            <a:pPr algn="just">
              <a:spcAft>
                <a:spcPts val="500"/>
              </a:spcAft>
              <a:defRPr sz="1900">
                <a:solidFill>
                  <a:srgbClr val="1E293B"/>
                </a:solidFill>
                <a:latin typeface="Times New Roman"/>
              </a:defRPr>
            </a:pPr>
            <a:r>
              <a:t>🚨  [6] National Cyber Crime Reporting Portal (Helpline 1930), Indian Cyber Crime Coordination Centre (I4C), MHA: https://cybercrime.gov.in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3440</Words>
  <Application>Microsoft Office PowerPoint</Application>
  <PresentationFormat>Widescreen</PresentationFormat>
  <Paragraphs>444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Community Project  Branch: CSE-CYBERSECURITY &amp; INTERNET OF THINGS(ICB) Department: Data Engineering   Semester: V    Section: A          Regulation: R24             Course Code: R24MSCSP001                Community Project  Branch: CSE-CYBERSECURITY &amp; INTERNET OF THINGS(ICB)  Department: Data Engineering  Semester: V    Section: A          Regulation: R24             Course Code: R24MSCSP001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charan teja</dc:creator>
  <cp:keywords/>
  <dc:description>generated using python-pptx</dc:description>
  <cp:lastModifiedBy>charan teja</cp:lastModifiedBy>
  <cp:revision>4</cp:revision>
  <dcterms:created xsi:type="dcterms:W3CDTF">2013-01-27T09:14:16Z</dcterms:created>
  <dcterms:modified xsi:type="dcterms:W3CDTF">2026-07-25T02:26:38Z</dcterms:modified>
  <cp:category/>
</cp:coreProperties>
</file>