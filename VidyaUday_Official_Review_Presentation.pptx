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1A81387-CAA0-B664-E5E7-652103F7464F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297924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E228F4-F1C6-996C-1333-E77944D0112F}"/>
              </a:ext>
            </a:extLst>
          </p:cNvPr>
          <p:cNvSpPr txBox="1"/>
          <p:nvPr/>
        </p:nvSpPr>
        <p:spPr>
          <a:xfrm>
            <a:off x="7322713" y="5965777"/>
            <a:ext cx="42717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 of the Department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Dr. V. JYOTHI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Designation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Associate Professor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925BDB-B544-A468-80FA-5C328DABA918}"/>
              </a:ext>
            </a:extLst>
          </p:cNvPr>
          <p:cNvSpPr txBox="1"/>
          <p:nvPr/>
        </p:nvSpPr>
        <p:spPr>
          <a:xfrm>
            <a:off x="713696" y="5965777"/>
            <a:ext cx="67164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Coordinator :Dr .T .GOVINDH RAO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Designation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ASSISTANT PROFESSOR                           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39C9FE-9A55-D878-4113-BB45C8E42B25}"/>
              </a:ext>
            </a:extLst>
          </p:cNvPr>
          <p:cNvSpPr txBox="1"/>
          <p:nvPr/>
        </p:nvSpPr>
        <p:spPr>
          <a:xfrm>
            <a:off x="724153" y="5240594"/>
            <a:ext cx="47805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Guide Name : Mrs. G .LALITHA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Designation : ASSISTANT PROFESSOR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60522D6-D17F-C571-6E54-DC1EB5D4FD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1623335"/>
              </p:ext>
            </p:extLst>
          </p:nvPr>
        </p:nvGraphicFramePr>
        <p:xfrm>
          <a:off x="3211826" y="2833809"/>
          <a:ext cx="6246761" cy="211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5664">
                  <a:extLst>
                    <a:ext uri="{9D8B030D-6E8A-4147-A177-3AD203B41FA5}">
                      <a16:colId xmlns:a16="http://schemas.microsoft.com/office/drawing/2014/main" val="2978184859"/>
                    </a:ext>
                  </a:extLst>
                </a:gridCol>
                <a:gridCol w="2408903">
                  <a:extLst>
                    <a:ext uri="{9D8B030D-6E8A-4147-A177-3AD203B41FA5}">
                      <a16:colId xmlns:a16="http://schemas.microsoft.com/office/drawing/2014/main" val="2193938237"/>
                    </a:ext>
                  </a:extLst>
                </a:gridCol>
                <a:gridCol w="2802194">
                  <a:extLst>
                    <a:ext uri="{9D8B030D-6E8A-4147-A177-3AD203B41FA5}">
                      <a16:colId xmlns:a16="http://schemas.microsoft.com/office/drawing/2014/main" val="2017919128"/>
                    </a:ext>
                  </a:extLst>
                </a:gridCol>
              </a:tblGrid>
              <a:tr h="280548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</a:t>
                      </a:r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S. No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Register Number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Student 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4480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24331A4726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KALISETTY CHARAN TEJA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5102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24331A4745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PANDI ABHINASH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9443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   24331A4720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GUMMIDI PUSPHA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9527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   24331A4752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 SYED MOHAIDEEN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687222"/>
                  </a:ext>
                </a:extLst>
              </a:tr>
            </a:tbl>
          </a:graphicData>
        </a:graphic>
      </p:graphicFrame>
      <p:sp>
        <p:nvSpPr>
          <p:cNvPr id="3" name="Subtitle 2">
            <a:extLst>
              <a:ext uri="{FF2B5EF4-FFF2-40B4-BE49-F238E27FC236}">
                <a16:creationId xmlns:a16="http://schemas.microsoft.com/office/drawing/2014/main" id="{B287393A-5152-2239-E68B-758F108442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5847" y="1982521"/>
            <a:ext cx="9144000" cy="798837"/>
          </a:xfrm>
        </p:spPr>
        <p:txBody>
          <a:bodyPr>
            <a:normAutofit fontScale="92500"/>
          </a:bodyPr>
          <a:lstStyle/>
          <a:p>
            <a:pPr algn="l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Title: VIDYA Uday – DIGITAL EMPOWERMENT AND AI AWARENESS</a:t>
            </a:r>
          </a:p>
          <a:p>
            <a:pPr algn="l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Batch Number:3  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D0BAEA-A6E1-3B7C-66B0-6AA9B41685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82663" y="56298"/>
            <a:ext cx="9518554" cy="814592"/>
          </a:xfrm>
        </p:spPr>
        <p:txBody>
          <a:bodyPr>
            <a:normAutofit fontScale="90000"/>
          </a:bodyPr>
          <a:lstStyle/>
          <a:p>
            <a: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Community Project </a:t>
            </a:r>
            <a:b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Branch: CSE-CYBERSECURITY &amp; INTERNET OF THINGS(ICB)</a:t>
            </a: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Department: Data Engineering </a:t>
            </a:r>
            <a:b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Semester: V    Section: A          Regulation: R24             Course Code: R24MSCSP001</a:t>
            </a: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Community Project </a:t>
            </a:r>
            <a:b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Branch: CSE-CYBERSECURITY &amp; INTERNET OF THINGS(ICB)</a:t>
            </a:r>
            <a:b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Department: Data Engineering </a:t>
            </a:r>
            <a:b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Semester: V    Section: A          Regulation: R24             Course Code: R24MSCSP001</a:t>
            </a:r>
            <a:endParaRPr lang="en-IN" sz="2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3E56905-97E0-B3F0-64B4-B47506A51B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Abstract</a:t>
            </a:r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Abstract</a:t>
            </a:r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Abstract</a:t>
            </a: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Abstract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475569"/>
                </a:solidFill>
                <a:latin typeface="Times New Roman"/>
              </a:rPr>
              <a:t>A concise overview of VidyaUday and its core purpose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886968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TextBox 9001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C2410C"/>
                </a:solidFill>
                <a:latin typeface="Times New Roman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Rural 10th and Intermediate students in Andhra Pradesh &amp; Telangana face an acute guidance deficit, unaware of higher study paths, scholarships, and free learning tools.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Essential educational information remains fragmented across complex government circulars, English-only websites, and aggressive commercial coaching apps.</a:t>
            </a:r>
          </a:p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C2410C"/>
                </a:solidFill>
                <a:latin typeface="Times New Roman"/>
              </a:rPr>
              <a:t>Our Solution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VidyaUday provides a 100% free, mobile-friendly platform with zero login, no ads, and full English-Telugu bilingual parity.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AI Tools Hub: Curated free AI study engines with 1-click copyable student prompts for maths, essays, and vernacular explanations.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Exclusive Switchers: Interactive career roadmaps (MPC/BiPC/CEC/Poly/ITI), 1-click SCERT board textbooks, and 30-sec scholarship eligibility checks.</a:t>
            </a:r>
          </a:p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C2410C"/>
                </a:solidFill>
                <a:latin typeface="Times New Roman"/>
              </a:rPr>
              <a:t>Expected Outcome</a:t>
            </a:r>
          </a:p>
          <a:p>
            <a:pPr algn="l">
              <a:spcAft>
                <a:spcPts val="2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Unlocks statutory government scholarships, eliminates cyber café application fees, and fosters confident, self-directed rural students.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Introduction</a:t>
            </a: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Introduction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Introduction</a:t>
            </a: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475569"/>
                </a:solidFill>
                <a:latin typeface="Times New Roman"/>
              </a:rPr>
              <a:t>The challenge rural students face and what VidyaUday does about it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TextBox 9001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 i="0">
                <a:solidFill>
                  <a:srgbClr val="0F172A"/>
                </a:solidFill>
                <a:latin typeface="Times New Roman"/>
              </a:rPr>
              <a:t>• The Growing Rural Challenge: </a:t>
            </a:r>
            <a:r>
              <a:rPr sz="2100" b="0" i="0">
                <a:solidFill>
                  <a:srgbClr val="0F172A"/>
                </a:solidFill>
                <a:latin typeface="Times New Roman"/>
              </a:rPr>
              <a:t>Lakhs of students pass 10th (SSC) and Intermediate (+2) annually without structured counseling, choosing careers blindly based on peer pressure.</a:t>
            </a:r>
          </a:p>
          <a:p>
            <a:pPr>
              <a:spcAft>
                <a:spcPts val="1200"/>
              </a:spcAft>
            </a:pPr>
            <a:r>
              <a:rPr sz="2200" b="1" i="0">
                <a:solidFill>
                  <a:srgbClr val="0F172A"/>
                </a:solidFill>
                <a:latin typeface="Times New Roman"/>
              </a:rPr>
              <a:t>• The Information &amp; Language Barrier: </a:t>
            </a:r>
            <a:r>
              <a:rPr sz="2100" b="0" i="0">
                <a:solidFill>
                  <a:srgbClr val="0F172A"/>
                </a:solidFill>
                <a:latin typeface="Times New Roman"/>
              </a:rPr>
              <a:t>Genuine resources exist but are buried across multiple portals in dense English. Rural first-generation digital learners struggle to find authentic guidance.</a:t>
            </a:r>
          </a:p>
          <a:p>
            <a:pPr>
              <a:spcAft>
                <a:spcPts val="1200"/>
              </a:spcAft>
            </a:pPr>
            <a:r>
              <a:rPr sz="2200" b="1" i="0">
                <a:solidFill>
                  <a:srgbClr val="0F172A"/>
                </a:solidFill>
                <a:latin typeface="Times New Roman"/>
              </a:rPr>
              <a:t>• Commercial Coaching Exploitation: </a:t>
            </a:r>
            <a:r>
              <a:rPr sz="2100" b="0" i="0">
                <a:solidFill>
                  <a:srgbClr val="0F172A"/>
                </a:solidFill>
                <a:latin typeface="Times New Roman"/>
              </a:rPr>
              <a:t>Expensive private coaching apps charge ₹20,000–₹50,000, drowning out 100% free Central and State Government learning platforms like DIKSHA and Swayam Prabha.</a:t>
            </a:r>
          </a:p>
          <a:p>
            <a:pPr>
              <a:spcAft>
                <a:spcPts val="1200"/>
              </a:spcAft>
            </a:pPr>
            <a:r>
              <a:rPr sz="2200" b="1" i="0">
                <a:solidFill>
                  <a:srgbClr val="0F172A"/>
                </a:solidFill>
                <a:latin typeface="Times New Roman"/>
              </a:rPr>
              <a:t>• VidyaUday's Integrated Platform: </a:t>
            </a:r>
            <a:r>
              <a:rPr sz="2100" b="0" i="0">
                <a:solidFill>
                  <a:srgbClr val="0F172A"/>
                </a:solidFill>
                <a:latin typeface="Times New Roman"/>
              </a:rPr>
              <a:t>A lightweight single-page application uniting AI prompts, career roadmaps, board books, verified scholarships, and digital literacy under one roof.</a:t>
            </a:r>
          </a:p>
          <a:p>
            <a:pPr>
              <a:spcAft>
                <a:spcPts val="1200"/>
              </a:spcAft>
            </a:pPr>
            <a:r>
              <a:rPr sz="2200" b="1" i="0">
                <a:solidFill>
                  <a:srgbClr val="0F172A"/>
                </a:solidFill>
                <a:latin typeface="Times New Roman"/>
              </a:rPr>
              <a:t>• Universal Zero-Barrier Accessibility: </a:t>
            </a:r>
            <a:r>
              <a:rPr sz="2100" b="0" i="0">
                <a:solidFill>
                  <a:srgbClr val="0F172A"/>
                </a:solidFill>
                <a:latin typeface="Times New Roman"/>
              </a:rPr>
              <a:t>Loads in under 1.2s on basic smartphones over 3G/4G, requires no user account, collects zero personal data, and is 100% free forever.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Problem Statement</a:t>
            </a: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Problem Statement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Problem Statement</a:t>
            </a: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Problem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475569"/>
                </a:solidFill>
                <a:latin typeface="Times New Roman"/>
              </a:rPr>
              <a:t>Rural students are not short on ability — they are short on access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TextBox 9001"/>
          <p:cNvSpPr txBox="1"/>
          <p:nvPr/>
        </p:nvSpPr>
        <p:spPr>
          <a:xfrm>
            <a:off x="548640" y="114300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300" b="0" i="0">
                <a:solidFill>
                  <a:srgbClr val="0F172A"/>
                </a:solidFill>
                <a:latin typeface="Times New Roman"/>
              </a:rPr>
              <a:t>Lakhs of rural 10th and Intermediate students in Andhra Pradesh and Telangana face a severe guidance deficit, making critical career choices blindly without awareness of free government learning resources, AI educational tools, or annual scholarships worth crores of rupees. Scattered, English-dominant government circulars and aggressive commercial coaching traps prevent first-generation learners from accessing opportunities they legally qualify for.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48640" y="3108960"/>
            <a:ext cx="3474720" cy="31089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C2410C"/>
                </a:solidFill>
                <a:latin typeface="Times New Roman"/>
              </a:rPr>
              <a:t>65%</a:t>
            </a:r>
          </a:p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F172A"/>
                </a:solidFill>
                <a:latin typeface="Times New Roman"/>
              </a:rPr>
              <a:t>Lack Structured Guidance</a:t>
            </a:r>
          </a:p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475569"/>
                </a:solidFill>
                <a:latin typeface="Times New Roman"/>
              </a:rPr>
              <a:t>Make higher education choices without knowledge of alternatives or career prospects.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4343400" y="3108960"/>
            <a:ext cx="3474720" cy="31089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C2410C"/>
                </a:solidFill>
                <a:latin typeface="Times New Roman"/>
              </a:rPr>
              <a:t>80%</a:t>
            </a:r>
          </a:p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F172A"/>
                </a:solidFill>
                <a:latin typeface="Times New Roman"/>
              </a:rPr>
              <a:t>Never Used Free AI</a:t>
            </a:r>
          </a:p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475569"/>
                </a:solidFill>
                <a:latin typeface="Times New Roman"/>
              </a:rPr>
              <a:t>Unaware of free AI tools like ChatGPT or Gemini for academic homework &amp; study doubts.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8138160" y="3108960"/>
            <a:ext cx="3474720" cy="31089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C2410C"/>
                </a:solidFill>
                <a:latin typeface="Times New Roman"/>
              </a:rPr>
              <a:t>₹50K+</a:t>
            </a:r>
          </a:p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F172A"/>
                </a:solidFill>
                <a:latin typeface="Times New Roman"/>
              </a:rPr>
              <a:t>Unclaimed Scholarships</a:t>
            </a:r>
          </a:p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475569"/>
                </a:solidFill>
                <a:latin typeface="Times New Roman"/>
              </a:rPr>
              <a:t>Annual government welfare and DBT scholarship funds missed per eligible rural student.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Project Objectives</a:t>
            </a: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Project Objectives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Project Objectives</a:t>
            </a: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Project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475569"/>
                </a:solidFill>
                <a:latin typeface="Times New Roman"/>
              </a:rPr>
              <a:t>Six clear goals that define what VidyaUday sets out to achieve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TextBox 9001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 b="1" i="0">
                <a:solidFill>
                  <a:srgbClr val="C2410C"/>
                </a:solidFill>
                <a:latin typeface="Times New Roman"/>
              </a:rPr>
              <a:t>01. Centralize Educational Access: </a:t>
            </a:r>
            <a:r>
              <a:rPr sz="2100" b="0" i="0">
                <a:solidFill>
                  <a:srgbClr val="0F172A"/>
                </a:solidFill>
                <a:latin typeface="Times New Roman"/>
              </a:rPr>
              <a:t>Consolidate AI study tools, career roadmaps, SCERT textbooks, and verified scholarships into a single, mobile-optimized web hub.</a:t>
            </a:r>
          </a:p>
          <a:p>
            <a:pPr>
              <a:spcAft>
                <a:spcPts val="1000"/>
              </a:spcAft>
            </a:pPr>
            <a:r>
              <a:rPr sz="2200" b="1" i="0">
                <a:solidFill>
                  <a:srgbClr val="C2410C"/>
                </a:solidFill>
                <a:latin typeface="Times New Roman"/>
              </a:rPr>
              <a:t>02. Democratize AI for Education: </a:t>
            </a:r>
            <a:r>
              <a:rPr sz="2100" b="0" i="0">
                <a:solidFill>
                  <a:srgbClr val="0F172A"/>
                </a:solidFill>
                <a:latin typeface="Times New Roman"/>
              </a:rPr>
              <a:t>Equip rural students with 1-click copyable prompts for step-by-step math problem solving, essay writing, and vernacular concept explanations.</a:t>
            </a:r>
          </a:p>
          <a:p>
            <a:pPr>
              <a:spcAft>
                <a:spcPts val="1000"/>
              </a:spcAft>
            </a:pPr>
            <a:r>
              <a:rPr sz="2200" b="1" i="0">
                <a:solidFill>
                  <a:srgbClr val="C2410C"/>
                </a:solidFill>
                <a:latin typeface="Times New Roman"/>
              </a:rPr>
              <a:t>03. Provide Multi-Stream Career Clarity: </a:t>
            </a:r>
            <a:r>
              <a:rPr sz="2100" b="0" i="0">
                <a:solidFill>
                  <a:srgbClr val="0F172A"/>
                </a:solidFill>
                <a:latin typeface="Times New Roman"/>
              </a:rPr>
              <a:t>Deliver interactive step-by-step career roadmaps and comparison matrices for MPC, BiPC, CEC, MEC, Polytechnic, and ITI streams.</a:t>
            </a:r>
          </a:p>
          <a:p>
            <a:pPr>
              <a:spcAft>
                <a:spcPts val="1000"/>
              </a:spcAft>
            </a:pPr>
            <a:r>
              <a:rPr sz="2200" b="1" i="0">
                <a:solidFill>
                  <a:srgbClr val="C2410C"/>
                </a:solidFill>
                <a:latin typeface="Times New Roman"/>
              </a:rPr>
              <a:t>04. Unlock Statutory Government Scholarships: </a:t>
            </a:r>
            <a:r>
              <a:rPr sz="2100" b="0" i="0">
                <a:solidFill>
                  <a:srgbClr val="0F172A"/>
                </a:solidFill>
                <a:latin typeface="Times New Roman"/>
              </a:rPr>
              <a:t>Provide a 30-second eligibility checker, verified DBT government gazette citations, and direct links to official .gov.in portals.</a:t>
            </a:r>
          </a:p>
          <a:p>
            <a:pPr>
              <a:spcAft>
                <a:spcPts val="1000"/>
              </a:spcAft>
            </a:pPr>
            <a:r>
              <a:rPr sz="2200" b="1" i="0">
                <a:solidFill>
                  <a:srgbClr val="C2410C"/>
                </a:solidFill>
                <a:latin typeface="Times New Roman"/>
              </a:rPr>
              <a:t>05. Promote Digital &amp; Cyber Safety Literacy: </a:t>
            </a:r>
            <a:r>
              <a:rPr sz="2100" b="0" i="0">
                <a:solidFill>
                  <a:srgbClr val="0F172A"/>
                </a:solidFill>
                <a:latin typeface="Times New Roman"/>
              </a:rPr>
              <a:t>Educate students on DigiLocker certificate storage, photo/signature compression for exam forms, and fraud awareness against fake scholarship fees.</a:t>
            </a:r>
          </a:p>
          <a:p>
            <a:pPr>
              <a:spcAft>
                <a:spcPts val="1000"/>
              </a:spcAft>
            </a:pPr>
            <a:r>
              <a:rPr sz="2200" b="1" i="0">
                <a:solidFill>
                  <a:srgbClr val="C2410C"/>
                </a:solidFill>
                <a:latin typeface="Times New Roman"/>
              </a:rPr>
              <a:t>06. Ensure Complete Linguistic Inclusivity: </a:t>
            </a:r>
            <a:r>
              <a:rPr sz="2100" b="0" i="0">
                <a:solidFill>
                  <a:srgbClr val="0F172A"/>
                </a:solidFill>
                <a:latin typeface="Times New Roman"/>
              </a:rPr>
              <a:t>Provide seamless real-time bilingual switching between English and authentic Telugu (తెలుగు) with zero page reload latency.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Project Scope</a:t>
            </a: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Project Scope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Project Scope</a:t>
            </a: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Project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475569"/>
                </a:solidFill>
                <a:latin typeface="Times New Roman"/>
              </a:rPr>
              <a:t>What VidyaUday includes — and what it deliberately does not cover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Rounded Rectangle 9001"/>
          <p:cNvSpPr/>
          <p:nvPr/>
        </p:nvSpPr>
        <p:spPr>
          <a:xfrm>
            <a:off x="548640" y="1143000"/>
            <a:ext cx="5349240" cy="52120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200"/>
              </a:spcAft>
            </a:pPr>
            <a:r>
              <a:rPr sz="2400" b="1" i="0">
                <a:solidFill>
                  <a:srgbClr val="10B981"/>
                </a:solidFill>
                <a:latin typeface="Times New Roman"/>
              </a:rPr>
              <a:t>✅  IN SCOPE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Bilingual web platform for 10th and Inter students in AP &amp; TS.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Curated free AI tools with 1-click copyable student prompts.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Interactive roadmaps, comparison matrix, and 30-sec matcher.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20+ verified Central &amp; State DBT government scholarships.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1-Click SCERT board textbooks &amp; 5-year solved papers hub.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Digital readiness quiz, exam form guides, and scam shield.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6263640" y="1143000"/>
            <a:ext cx="5349240" cy="52120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200"/>
              </a:spcAft>
            </a:pPr>
            <a:r>
              <a:rPr sz="2400" b="1" i="0">
                <a:solidFill>
                  <a:srgbClr val="EF4444"/>
                </a:solidFill>
                <a:latin typeface="Times New Roman"/>
              </a:rPr>
              <a:t>❌  OUT OF SCOPE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Not a paid college admission or examination booking agency.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Does not submit official scholarship applications on students' behalf.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Not a replacement for classroom teachers or school faculties.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Zero commercial advertisements, paid tiers, or subscription models.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Does not collect, store, or track student personal data or OTPs.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Not limited to any single caste, religion, or gender demographic.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Literature Review / Background Study</a:t>
            </a: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Literature Review / Background Study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Literature Review / Background Study</a:t>
            </a: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Literature Review / Background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475569"/>
                </a:solidFill>
                <a:latin typeface="Times New Roman"/>
              </a:rPr>
              <a:t>Existing educational platforms and why they fall short for rural students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9002" name="Table 9001"/>
          <p:cNvGraphicFramePr>
            <a:graphicFrameLocks noGrp="1"/>
          </p:cNvGraphicFramePr>
          <p:nvPr/>
        </p:nvGraphicFramePr>
        <p:xfrm>
          <a:off x="548640" y="1143000"/>
          <a:ext cx="110642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206240"/>
                <a:gridCol w="4297680"/>
              </a:tblGrid>
              <a:tr h="65532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1" i="0">
                          <a:solidFill>
                            <a:srgbClr val="FFFFFF"/>
                          </a:solidFill>
                          <a:latin typeface="Times New Roman"/>
                        </a:rPr>
                        <a:t>Existing Platform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1" i="0">
                          <a:solidFill>
                            <a:srgbClr val="FFFFFF"/>
                          </a:solidFill>
                          <a:latin typeface="Times New Roman"/>
                        </a:rPr>
                        <a:t>Key Limitation for Rural Students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1" i="0">
                          <a:solidFill>
                            <a:srgbClr val="FFFFFF"/>
                          </a:solidFill>
                          <a:latin typeface="Times New Roman"/>
                        </a:rPr>
                        <a:t>VidyaUday Advantage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 i="0">
                          <a:solidFill>
                            <a:srgbClr val="0F172A"/>
                          </a:solidFill>
                          <a:latin typeface="Times New Roman"/>
                        </a:rPr>
                        <a:t>Buddy4Study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 i="0">
                          <a:solidFill>
                            <a:srgbClr val="0F172A"/>
                          </a:solidFill>
                          <a:latin typeface="Times New Roman"/>
                        </a:rPr>
                        <a:t>Commercial paid tests; no Telugu support; no AI awareness.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 i="0">
                          <a:solidFill>
                            <a:srgbClr val="0F172A"/>
                          </a:solidFill>
                          <a:latin typeface="Times New Roman"/>
                        </a:rPr>
                        <a:t>100% free guidance, vernacular support &amp; 1-click prompts.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 i="0">
                          <a:solidFill>
                            <a:srgbClr val="0F172A"/>
                          </a:solidFill>
                          <a:latin typeface="Times New Roman"/>
                        </a:rPr>
                        <a:t>Careers360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 i="0">
                          <a:solidFill>
                            <a:srgbClr val="0F172A"/>
                          </a:solidFill>
                          <a:latin typeface="Times New Roman"/>
                        </a:rPr>
                        <a:t>Urban-focused; complex, ad-heavy UI; English-only.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 i="0">
                          <a:solidFill>
                            <a:srgbClr val="0F172A"/>
                          </a:solidFill>
                          <a:latin typeface="Times New Roman"/>
                        </a:rPr>
                        <a:t>Clutter-free single-view UI; authentic Telugu parity; zero ads.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 i="0">
                          <a:solidFill>
                            <a:srgbClr val="0F172A"/>
                          </a:solidFill>
                          <a:latin typeface="Times New Roman"/>
                        </a:rPr>
                        <a:t>Bodhami 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 i="0">
                          <a:solidFill>
                            <a:srgbClr val="0F172A"/>
                          </a:solidFill>
                          <a:latin typeface="Times New Roman"/>
                        </a:rPr>
                        <a:t>Requires trained counsellors; not self-service for students.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 i="0">
                          <a:solidFill>
                            <a:srgbClr val="0F172A"/>
                          </a:solidFill>
                          <a:latin typeface="Times New Roman"/>
                        </a:rPr>
                        <a:t>Fully self-directed 24/7; instant 30-sec stream matcher.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 i="0">
                          <a:solidFill>
                            <a:srgbClr val="0F172A"/>
                          </a:solidFill>
                          <a:latin typeface="Times New Roman"/>
                        </a:rPr>
                        <a:t>Jnanabhumi / NSP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 i="0">
                          <a:solidFill>
                            <a:srgbClr val="0F172A"/>
                          </a:solidFill>
                          <a:latin typeface="Times New Roman"/>
                        </a:rPr>
                        <a:t>Scholarship-only portals; complex navigation; no career tools.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 i="0">
                          <a:solidFill>
                            <a:srgbClr val="0F172A"/>
                          </a:solidFill>
                          <a:latin typeface="Times New Roman"/>
                        </a:rPr>
                        <a:t>Bilingual unified hub combining careers, books &amp; scholarships.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 i="0">
                          <a:solidFill>
                            <a:srgbClr val="0F172A"/>
                          </a:solidFill>
                          <a:latin typeface="Times New Roman"/>
                        </a:rPr>
                        <a:t>AICTE Rural Portal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 i="0">
                          <a:solidFill>
                            <a:srgbClr val="0F172A"/>
                          </a:solidFill>
                          <a:latin typeface="Times New Roman"/>
                        </a:rPr>
                        <a:t>Focuses only on placements; no 10th/Inter roadmaps.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0" i="0">
                          <a:solidFill>
                            <a:srgbClr val="0F172A"/>
                          </a:solidFill>
                          <a:latin typeface="Times New Roman"/>
                        </a:rPr>
                        <a:t>Complete progression ladders from 10th to professional degrees.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003" name="Rounded Rectangle 9002"/>
          <p:cNvSpPr/>
          <p:nvPr/>
        </p:nvSpPr>
        <p:spPr>
          <a:xfrm>
            <a:off x="548640" y="5303520"/>
            <a:ext cx="11064240" cy="109728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92400E"/>
                </a:solidFill>
                <a:latin typeface="Times New Roman"/>
              </a:rPr>
              <a:t>Key Gap Identified: No single existing platform integrates curated AI study tools, interactive career roadmaps, 1-click board textbooks, and verified government scholarships into a free, clutter-free bilingual interface for rural students.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VidyaUday vs Competitors</a:t>
            </a: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VidyaUday vs Competitors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VidyaUday vs Competitors</a:t>
            </a: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VidyaUday vs Competitors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475569"/>
                </a:solidFill>
                <a:latin typeface="Times New Roman"/>
              </a:rPr>
              <a:t>Feature-by-feature comparison — what makes VidyaUday uniquely effective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9002" name="Table 9001"/>
          <p:cNvGraphicFramePr>
            <a:graphicFrameLocks noGrp="1"/>
          </p:cNvGraphicFramePr>
          <p:nvPr/>
        </p:nvGraphicFramePr>
        <p:xfrm>
          <a:off x="548640" y="114300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426464"/>
                <a:gridCol w="1426464"/>
                <a:gridCol w="1426464"/>
                <a:gridCol w="1426464"/>
                <a:gridCol w="1426464"/>
              </a:tblGrid>
              <a:tr h="56896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 i="0">
                          <a:solidFill>
                            <a:srgbClr val="FFFFFF"/>
                          </a:solidFill>
                          <a:latin typeface="Times New Roman"/>
                        </a:rPr>
                        <a:t>Key Feature Dimension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 i="0">
                          <a:solidFill>
                            <a:srgbClr val="FFFFFF"/>
                          </a:solidFill>
                          <a:latin typeface="Times New Roman"/>
                        </a:rPr>
                        <a:t>Buddy4Study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 i="0">
                          <a:solidFill>
                            <a:srgbClr val="FFFFFF"/>
                          </a:solidFill>
                          <a:latin typeface="Times New Roman"/>
                        </a:rPr>
                        <a:t>Careers360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 i="0">
                          <a:solidFill>
                            <a:srgbClr val="FFFFFF"/>
                          </a:solidFill>
                          <a:latin typeface="Times New Roman"/>
                        </a:rPr>
                        <a:t>Bodhami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 i="0">
                          <a:solidFill>
                            <a:srgbClr val="FFFFFF"/>
                          </a:solidFill>
                          <a:latin typeface="Times New Roman"/>
                        </a:rPr>
                        <a:t>Jnanabhumi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900" b="1" i="0">
                          <a:solidFill>
                            <a:srgbClr val="FFFFFF"/>
                          </a:solidFill>
                          <a:latin typeface="Times New Roman"/>
                        </a:rPr>
                        <a:t>VidyaUday</a:t>
                      </a:r>
                    </a:p>
                  </a:txBody>
                  <a:tcPr>
                    <a:solidFill>
                      <a:srgbClr val="C2410C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1" i="0">
                          <a:solidFill>
                            <a:srgbClr val="0F172A"/>
                          </a:solidFill>
                          <a:latin typeface="Times New Roman"/>
                        </a:rPr>
                        <a:t>Curated AI Tools &amp; Copyable Prompts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1" i="0">
                          <a:solidFill>
                            <a:srgbClr val="10B981"/>
                          </a:solidFill>
                          <a:latin typeface="Times New Roman"/>
                        </a:rPr>
                        <a:t>✅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1" i="0">
                          <a:solidFill>
                            <a:srgbClr val="0F172A"/>
                          </a:solidFill>
                          <a:latin typeface="Times New Roman"/>
                        </a:rPr>
                        <a:t>Interactive Multi-Stream Career Roadmaps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10B981"/>
                          </a:solidFill>
                          <a:latin typeface="Times New Roman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10B981"/>
                          </a:solidFill>
                          <a:latin typeface="Times New Roman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1" i="0">
                          <a:solidFill>
                            <a:srgbClr val="10B981"/>
                          </a:solidFill>
                          <a:latin typeface="Times New Roman"/>
                        </a:rPr>
                        <a:t>✅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1" i="0">
                          <a:solidFill>
                            <a:srgbClr val="0F172A"/>
                          </a:solidFill>
                          <a:latin typeface="Times New Roman"/>
                        </a:rPr>
                        <a:t>30-Second Scholarship Eligibility Checker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10B981"/>
                          </a:solidFill>
                          <a:latin typeface="Times New Roman"/>
                        </a:rPr>
                        <a:t>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10B981"/>
                          </a:solidFill>
                          <a:latin typeface="Times New Roman"/>
                        </a:rPr>
                        <a:t>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1" i="0">
                          <a:solidFill>
                            <a:srgbClr val="10B981"/>
                          </a:solidFill>
                          <a:latin typeface="Times New Roman"/>
                        </a:rPr>
                        <a:t>✅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1" i="0">
                          <a:solidFill>
                            <a:srgbClr val="0F172A"/>
                          </a:solidFill>
                          <a:latin typeface="Times New Roman"/>
                        </a:rPr>
                        <a:t>1-Click SCERT Board Textbooks &amp; Papers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1" i="0">
                          <a:solidFill>
                            <a:srgbClr val="10B981"/>
                          </a:solidFill>
                          <a:latin typeface="Times New Roman"/>
                        </a:rPr>
                        <a:t>✅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1" i="0">
                          <a:solidFill>
                            <a:srgbClr val="0F172A"/>
                          </a:solidFill>
                          <a:latin typeface="Times New Roman"/>
                        </a:rPr>
                        <a:t>Student Scam Buster &amp; Cyber Shield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1" i="0">
                          <a:solidFill>
                            <a:srgbClr val="10B981"/>
                          </a:solidFill>
                          <a:latin typeface="Times New Roman"/>
                        </a:rPr>
                        <a:t>✅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1" i="0">
                          <a:solidFill>
                            <a:srgbClr val="0F172A"/>
                          </a:solidFill>
                          <a:latin typeface="Times New Roman"/>
                        </a:rPr>
                        <a:t>Authentic Telugu Bilingual Parity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1" i="0">
                          <a:solidFill>
                            <a:srgbClr val="10B981"/>
                          </a:solidFill>
                          <a:latin typeface="Times New Roman"/>
                        </a:rPr>
                        <a:t>✅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1" i="0">
                          <a:solidFill>
                            <a:srgbClr val="0F172A"/>
                          </a:solidFill>
                          <a:latin typeface="Times New Roman"/>
                        </a:rPr>
                        <a:t>Exclusive Clutter-Free Single-View UX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1" i="0">
                          <a:solidFill>
                            <a:srgbClr val="10B981"/>
                          </a:solidFill>
                          <a:latin typeface="Times New Roman"/>
                        </a:rPr>
                        <a:t>✅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1" i="0">
                          <a:solidFill>
                            <a:srgbClr val="0F172A"/>
                          </a:solidFill>
                          <a:latin typeface="Times New Roman"/>
                        </a:rPr>
                        <a:t>100% Free Forever (No Login / No Ads)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EF4444"/>
                          </a:solidFill>
                          <a:latin typeface="Times New Roman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0" i="0">
                          <a:solidFill>
                            <a:srgbClr val="10B981"/>
                          </a:solidFill>
                          <a:latin typeface="Times New Roman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000" b="1" i="0">
                          <a:solidFill>
                            <a:srgbClr val="10B981"/>
                          </a:solidFill>
                          <a:latin typeface="Times New Roman"/>
                        </a:rPr>
                        <a:t>✅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Data Gathered / Data Used</a:t>
            </a: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Data Gathered / Data Used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Data Gathered / Data Used</a:t>
            </a: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Data Gathered / Data Used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475569"/>
                </a:solidFill>
                <a:latin typeface="Times New Roman"/>
              </a:rPr>
              <a:t>Empirical student survey insights combined with verified statutory government 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Rounded Rectangle 9001"/>
          <p:cNvSpPr/>
          <p:nvPr/>
        </p:nvSpPr>
        <p:spPr>
          <a:xfrm>
            <a:off x="548640" y="1143000"/>
            <a:ext cx="5349240" cy="52120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C2410C"/>
                </a:solidFill>
                <a:latin typeface="Times New Roman"/>
              </a:rPr>
              <a:t>📊  PRIMARY DATA (Student Survey)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F172A"/>
                </a:solidFill>
                <a:latin typeface="Times New Roman"/>
              </a:rPr>
              <a:t>• Survey Scope: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Field surveys &amp; Google Forms conducted with rural 10th and Inter students in AP &amp; TS.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F172A"/>
                </a:solidFill>
                <a:latin typeface="Times New Roman"/>
              </a:rPr>
              <a:t>• 74.2% Guidance Deficit: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Students were unaware of career streams outside MPC/BiPC (such as Polytechnic or Allied Health).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F172A"/>
                </a:solidFill>
                <a:latin typeface="Times New Roman"/>
              </a:rPr>
              <a:t>• 81.5% AI Awareness Gap: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Students had never utilized free AI tools for academic doubt-solving or writing help.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F172A"/>
                </a:solidFill>
                <a:latin typeface="Times New Roman"/>
              </a:rPr>
              <a:t>• 68.4% Unclaimed Welfare: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Eligible students did not know the criteria or deadlines for state/central scholarships.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F172A"/>
                </a:solidFill>
                <a:latin typeface="Times New Roman"/>
              </a:rPr>
              <a:t>• 89.0% Vernacular Demand: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Students requested all guidance and documents in simple native Telugu.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6263640" y="1143000"/>
            <a:ext cx="5349240" cy="52120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10B981"/>
                </a:solidFill>
                <a:latin typeface="Times New Roman"/>
              </a:rPr>
              <a:t>🏛️  SECONDARY DATA (Verified Sources)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F172A"/>
                </a:solidFill>
                <a:latin typeface="Times New Roman"/>
              </a:rPr>
              <a:t>• Official Government Gazettes: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Curated strictly from AP G.O. Ms. No. 77 &amp; 115 (Jnanabhumi) and TS ePASS CGG regulations.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F172A"/>
                </a:solidFill>
                <a:latin typeface="Times New Roman"/>
              </a:rPr>
              <a:t>• Central Ministry DBT Schemes: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Verified eligibility guidelines from Ministry of Education (NMMS, PM-USP) and AICTE (Pragati/Saksham).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F172A"/>
                </a:solidFill>
                <a:latin typeface="Times New Roman"/>
              </a:rPr>
              <a:t>• Academic Board Curricula: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Official state textbooks, blueprints, and 5-year public papers from AP SCERT and TS SCERT.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F172A"/>
                </a:solidFill>
                <a:latin typeface="Times New Roman"/>
              </a:rPr>
              <a:t>• Strict Data Integrity: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Zero unauthenticated web scraping. All scholarship links redirect strictly to official .gov.in portals.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F172A"/>
                </a:solidFill>
                <a:latin typeface="Times New Roman"/>
              </a:rPr>
              <a:t>• Annual Academic Verification: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Updated specifically for the Academic Year 2024–25 recurring application cycles.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6391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Methodology / System Design — Flow Chart</a:t>
            </a: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Methodology / System Design — Flow Chart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Methodology / System Design — Flow Chart</a:t>
            </a: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Methodology / System Design — Flow Chart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475569"/>
                </a:solidFill>
                <a:latin typeface="Times New Roman"/>
              </a:rPr>
              <a:t>A structured five-step user journey from confusion to an empowered decision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Rounded Rectangle 9001"/>
          <p:cNvSpPr/>
          <p:nvPr/>
        </p:nvSpPr>
        <p:spPr>
          <a:xfrm>
            <a:off x="548640" y="1143000"/>
            <a:ext cx="1106424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100" b="1" i="0">
                <a:solidFill>
                  <a:srgbClr val="C2410C"/>
                </a:solidFill>
                <a:latin typeface="Times New Roman"/>
              </a:rPr>
              <a:t>Step 1: </a:t>
            </a:r>
            <a:r>
              <a:rPr sz="2100" b="1" i="0">
                <a:solidFill>
                  <a:srgbClr val="0F172A"/>
                </a:solidFill>
                <a:latin typeface="Times New Roman"/>
              </a:rPr>
              <a:t>📱 Instant Access — </a:t>
            </a:r>
            <a:r>
              <a:rPr sz="2000" b="0" i="0">
                <a:solidFill>
                  <a:srgbClr val="0F172A"/>
                </a:solidFill>
                <a:latin typeface="Times New Roman"/>
              </a:rPr>
              <a:t>Student opens platform on any phone; selects English or Telugu. No login or installation required.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48640" y="2176272"/>
            <a:ext cx="1106424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100" b="1" i="0">
                <a:solidFill>
                  <a:srgbClr val="C2410C"/>
                </a:solidFill>
                <a:latin typeface="Times New Roman"/>
              </a:rPr>
              <a:t>Step 2: </a:t>
            </a:r>
            <a:r>
              <a:rPr sz="2100" b="1" i="0">
                <a:solidFill>
                  <a:srgbClr val="0F172A"/>
                </a:solidFill>
                <a:latin typeface="Times New Roman"/>
              </a:rPr>
              <a:t>🧭 Module Selection — </a:t>
            </a:r>
            <a:r>
              <a:rPr sz="2000" b="0" i="0">
                <a:solidFill>
                  <a:srgbClr val="0F172A"/>
                </a:solidFill>
                <a:latin typeface="Times New Roman"/>
              </a:rPr>
              <a:t>Chooses from AI Tools, Career Guidance, Free Learning Resources, Scholarships, or Digital Skills.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48640" y="3209544"/>
            <a:ext cx="1106424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100" b="1" i="0">
                <a:solidFill>
                  <a:srgbClr val="C2410C"/>
                </a:solidFill>
                <a:latin typeface="Times New Roman"/>
              </a:rPr>
              <a:t>Step 3: </a:t>
            </a:r>
            <a:r>
              <a:rPr sz="2100" b="1" i="0">
                <a:solidFill>
                  <a:srgbClr val="0F172A"/>
                </a:solidFill>
                <a:latin typeface="Times New Roman"/>
              </a:rPr>
              <a:t>🧩 Single-View Focus — </a:t>
            </a:r>
            <a:r>
              <a:rPr sz="2000" b="0" i="0">
                <a:solidFill>
                  <a:srgbClr val="0F172A"/>
                </a:solidFill>
                <a:latin typeface="Times New Roman"/>
              </a:rPr>
              <a:t>Exclusive mode switcher opens one view (Roadmaps, Books, or Checker) and hides all other clutter.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48640" y="4242816"/>
            <a:ext cx="1106424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100" b="1" i="0">
                <a:solidFill>
                  <a:srgbClr val="C2410C"/>
                </a:solidFill>
                <a:latin typeface="Times New Roman"/>
              </a:rPr>
              <a:t>Step 4: </a:t>
            </a:r>
            <a:r>
              <a:rPr sz="2100" b="1" i="0">
                <a:solidFill>
                  <a:srgbClr val="0F172A"/>
                </a:solidFill>
                <a:latin typeface="Times New Roman"/>
              </a:rPr>
              <a:t>🎯 Interactive Action — </a:t>
            </a:r>
            <a:r>
              <a:rPr sz="2000" b="0" i="0">
                <a:solidFill>
                  <a:srgbClr val="0F172A"/>
                </a:solidFill>
                <a:latin typeface="Times New Roman"/>
              </a:rPr>
              <a:t>Copies AI prompt, compares stream metrics, checks scholarship eligibility, or downloads official PDFs.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548640" y="5276088"/>
            <a:ext cx="1106424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100" b="1" i="0">
                <a:solidFill>
                  <a:srgbClr val="C2410C"/>
                </a:solidFill>
                <a:latin typeface="Times New Roman"/>
              </a:rPr>
              <a:t>Step 5: </a:t>
            </a:r>
            <a:r>
              <a:rPr sz="2100" b="1" i="0">
                <a:solidFill>
                  <a:srgbClr val="0F172A"/>
                </a:solidFill>
                <a:latin typeface="Times New Roman"/>
              </a:rPr>
              <a:t>🌟 Empowered Outcome — </a:t>
            </a:r>
            <a:r>
              <a:rPr sz="2000" b="0" i="0">
                <a:solidFill>
                  <a:srgbClr val="0F172A"/>
                </a:solidFill>
                <a:latin typeface="Times New Roman"/>
              </a:rPr>
              <a:t>Directs to authenticated .gov.in portals with verified documents, clear deadlines, and complete confidence.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Methodology / System Design — Block Diagram</a:t>
            </a: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Methodology / System Design — Block Diagram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Methodology / System Design — Block Diagram</a:t>
            </a: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Methodology / System Design — Block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475569"/>
                </a:solidFill>
                <a:latin typeface="Times New Roman"/>
              </a:rPr>
              <a:t>Four-tier client-side architecture powering the VidyaUday web application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Rounded Rectangle 9001"/>
          <p:cNvSpPr/>
          <p:nvPr/>
        </p:nvSpPr>
        <p:spPr>
          <a:xfrm>
            <a:off x="548640" y="1143000"/>
            <a:ext cx="11064240" cy="11155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C2410C"/>
                </a:solidFill>
                <a:latin typeface="Times New Roman"/>
              </a:rPr>
              <a:t>PRESENTATION LAYER (UI/UX)</a:t>
            </a:r>
          </a:p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0F172A"/>
                </a:solidFill>
                <a:latin typeface="Times New Roman"/>
              </a:rPr>
              <a:t>Semantic HTML5, CSS3 Custom Properties, Responsive CSS Grid &amp; Flexbox, Dark Glassmorphic Design System, Mobile-First Viewports.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48640" y="2441448"/>
            <a:ext cx="11064240" cy="1115568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C2410C"/>
                </a:solidFill>
                <a:latin typeface="Times New Roman"/>
              </a:rPr>
              <a:t>CLIENT LOGIC &amp; REACTIVE STATE LAYER</a:t>
            </a:r>
          </a:p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0F172A"/>
                </a:solidFill>
                <a:latin typeface="Times New Roman"/>
              </a:rPr>
              <a:t>Vanilla JavaScript (ES6+), Zero Framework Runtime, Isolated Single-View Switchers (switchCareerView, switchResourceView, switchScholView, switchDigitalView).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48640" y="3739896"/>
            <a:ext cx="11064240" cy="11155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C2410C"/>
                </a:solidFill>
                <a:latin typeface="Times New Roman"/>
              </a:rPr>
              <a:t>FUNCTIONAL FEATURE ENGINES</a:t>
            </a:r>
          </a:p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0F172A"/>
                </a:solidFill>
                <a:latin typeface="Times New Roman"/>
              </a:rPr>
              <a:t>30-Sec Scholarship Eligibility Matcher, Interactive Career Comparison Matrix, Subject Finder, 1-Click Copy Prompt Engine, Digital Readiness Quiz.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48640" y="5038344"/>
            <a:ext cx="11064240" cy="11155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C2410C"/>
                </a:solidFill>
                <a:latin typeface="Times New Roman"/>
              </a:rPr>
              <a:t>VERIFIED KNOWLEDGE &amp; CACHING LAYER</a:t>
            </a:r>
          </a:p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0F172A"/>
                </a:solidFill>
                <a:latin typeface="Times New Roman"/>
              </a:rPr>
              <a:t>Authenticated Statutory Government DBT Datasets, Bilingual JSON Dictionaries (EN/TE), PWA Service Worker (sw.js) Offline Asset Caching.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Implementation / Core Modules</a:t>
            </a: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Implementation / Core Modules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Implementation / Core Modules</a:t>
            </a: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Implementation / Core Modules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475569"/>
                </a:solidFill>
                <a:latin typeface="Times New Roman"/>
              </a:rPr>
              <a:t>Core functional modules implemented and client-side reactive eligibility logic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Rounded Rectangle 9001"/>
          <p:cNvSpPr/>
          <p:nvPr/>
        </p:nvSpPr>
        <p:spPr>
          <a:xfrm>
            <a:off x="548640" y="1143000"/>
            <a:ext cx="534924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C2410C"/>
                </a:solidFill>
                <a:latin typeface="Times New Roman"/>
              </a:rPr>
              <a:t>Core Modules Implemented</a:t>
            </a:r>
          </a:p>
          <a:p>
            <a:pPr>
              <a:spcAft>
                <a:spcPts val="600"/>
              </a:spcAft>
            </a:pPr>
            <a:r>
              <a:rPr sz="2000" b="1" i="0">
                <a:solidFill>
                  <a:srgbClr val="0F172A"/>
                </a:solidFill>
                <a:latin typeface="Times New Roman"/>
              </a:rPr>
              <a:t>• Bilingual Hero Gateway: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Dynamic real-time English/Telugu DOM translation with PWA install support.</a:t>
            </a:r>
          </a:p>
          <a:p>
            <a:pPr>
              <a:spcAft>
                <a:spcPts val="600"/>
              </a:spcAft>
            </a:pPr>
            <a:r>
              <a:rPr sz="2000" b="1" i="0">
                <a:solidFill>
                  <a:srgbClr val="0F172A"/>
                </a:solidFill>
                <a:latin typeface="Times New Roman"/>
              </a:rPr>
              <a:t>• AI Study Prompts Hub: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Curated engines + 1-click copyable student prompts with live clipboard feedback.</a:t>
            </a:r>
          </a:p>
          <a:p>
            <a:pPr>
              <a:spcAft>
                <a:spcPts val="600"/>
              </a:spcAft>
            </a:pPr>
            <a:r>
              <a:rPr sz="2000" b="1" i="0">
                <a:solidFill>
                  <a:srgbClr val="0F172A"/>
                </a:solidFill>
                <a:latin typeface="Times New Roman"/>
              </a:rPr>
              <a:t>• Career Guidance Switcher: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3-view system: Interactive Roadmaps, Stream Comparison, and 30-Sec Matcher.</a:t>
            </a:r>
          </a:p>
          <a:p>
            <a:pPr>
              <a:spcAft>
                <a:spcPts val="600"/>
              </a:spcAft>
            </a:pPr>
            <a:r>
              <a:rPr sz="2000" b="1" i="0">
                <a:solidFill>
                  <a:srgbClr val="0F172A"/>
                </a:solidFill>
                <a:latin typeface="Times New Roman"/>
              </a:rPr>
              <a:t>• Free Resources Hub: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Top platforms, 1-click SCERT book/paper downloads, and instant subject search.</a:t>
            </a:r>
          </a:p>
          <a:p>
            <a:pPr>
              <a:spcAft>
                <a:spcPts val="600"/>
              </a:spcAft>
            </a:pPr>
            <a:r>
              <a:rPr sz="2000" b="1" i="0">
                <a:solidFill>
                  <a:srgbClr val="0F172A"/>
                </a:solidFill>
                <a:latin typeface="Times New Roman"/>
              </a:rPr>
              <a:t>• Scholarships Hub: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20+ verified schemes, 30-sec eligibility checker, and mandatory document guide.</a:t>
            </a:r>
          </a:p>
          <a:p>
            <a:pPr>
              <a:spcAft>
                <a:spcPts val="600"/>
              </a:spcAft>
            </a:pPr>
            <a:r>
              <a:rPr sz="2000" b="1" i="0">
                <a:solidFill>
                  <a:srgbClr val="0F172A"/>
                </a:solidFill>
                <a:latin typeface="Times New Roman"/>
              </a:rPr>
              <a:t>• Digital Literacy Hub: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Essential online exam skills, 30-sec readiness quiz, and student scam shield.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6263640" y="1143000"/>
            <a:ext cx="5349240" cy="52120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FB923C"/>
                </a:solidFill>
                <a:latin typeface="Times New Roman"/>
              </a:rPr>
              <a:t>// Eligibility Matching Algorithm</a:t>
            </a:r>
          </a:p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E2E8F0"/>
                </a:solidFill>
                <a:latin typeface="Times New Roman"/>
              </a:rPr>
              <a:t>function isScholarshipEligible(s, profile) {</a:t>
            </a:r>
          </a:p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E2E8F0"/>
                </a:solidFill>
                <a:latin typeface="Times New Roman"/>
              </a:rPr>
              <a:t>  const r = s.eligRules;</a:t>
            </a:r>
          </a:p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E2E8F0"/>
                </a:solidFill>
                <a:latin typeface="Times New Roman"/>
              </a:rPr>
              <a:t>  if (!r) return false;</a:t>
            </a:r>
          </a:p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E2E8F0"/>
                </a:solidFill>
                <a:latin typeface="Times New Roman"/>
              </a:rPr>
              <a:t>  // Verify Caste &amp; Social Category</a:t>
            </a:r>
          </a:p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E2E8F0"/>
                </a:solidFill>
                <a:latin typeface="Times New Roman"/>
              </a:rPr>
              <a:t>  if (!r.castes.includes(profile.caste)) return false;</a:t>
            </a:r>
          </a:p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E2E8F0"/>
                </a:solidFill>
                <a:latin typeface="Times New Roman"/>
              </a:rPr>
              <a:t>  // Verify Gender Criteria</a:t>
            </a:r>
          </a:p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E2E8F0"/>
                </a:solidFill>
                <a:latin typeface="Times New Roman"/>
              </a:rPr>
              <a:t>  if (r.gender !== 'all' &amp;&amp; profile.gender !== r.gender)</a:t>
            </a:r>
          </a:p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E2E8F0"/>
                </a:solidFill>
                <a:latin typeface="Times New Roman"/>
              </a:rPr>
              <a:t>    return false;</a:t>
            </a:r>
          </a:p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E2E8F0"/>
                </a:solidFill>
                <a:latin typeface="Times New Roman"/>
              </a:rPr>
              <a:t>  // Verify Class &amp; Domicile State</a:t>
            </a:r>
          </a:p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E2E8F0"/>
                </a:solidFill>
                <a:latin typeface="Times New Roman"/>
              </a:rPr>
              <a:t>  if (!r.classes.includes(profile.class)) return false;</a:t>
            </a:r>
          </a:p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E2E8F0"/>
                </a:solidFill>
                <a:latin typeface="Times New Roman"/>
              </a:rPr>
              <a:t>  if (!r.states.includes(profile.state)) return false;</a:t>
            </a:r>
          </a:p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E2E8F0"/>
                </a:solidFill>
                <a:latin typeface="Times New Roman"/>
              </a:rPr>
              <a:t>  // Evaluate Family Income Threshold</a:t>
            </a:r>
          </a:p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E2E8F0"/>
                </a:solidFill>
                <a:latin typeface="Times New Roman"/>
              </a:rPr>
              <a:t>  const sIdx = incomeOrder.indexOf(profile.income);</a:t>
            </a:r>
          </a:p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E2E8F0"/>
                </a:solidFill>
                <a:latin typeface="Times New Roman"/>
              </a:rPr>
              <a:t>  const mIdx = incomeOrder.indexOf(r.incomeMax);</a:t>
            </a:r>
          </a:p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E2E8F0"/>
                </a:solidFill>
                <a:latin typeface="Times New Roman"/>
              </a:rPr>
              <a:t>  return sIdx &lt;= mIdx;</a:t>
            </a:r>
          </a:p>
          <a:p>
            <a:pPr algn="l">
              <a:spcAft>
                <a:spcPts val="200"/>
              </a:spcAft>
            </a:pPr>
            <a:r>
              <a:rPr sz="1700" b="0" i="0">
                <a:solidFill>
                  <a:srgbClr val="E2E8F0"/>
                </a:solidFill>
                <a:latin typeface="Times New Roman"/>
              </a:rP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VidyaUday Live Platform Screenshots</a:t>
            </a: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VidyaUday Live Platform Screenshots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VidyaUday Live Platform Screenshots</a:t>
            </a:r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475569"/>
                </a:solidFill>
                <a:latin typeface="Times New Roman"/>
              </a:rPr>
              <a:t>Production screens deployed live on GitHub Pages with authentic bilingual UI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81360" y="356616"/>
            <a:ext cx="1051560" cy="676656"/>
          </a:xfrm>
          <a:prstGeom prst="rect">
            <a:avLst/>
          </a:prstGeom>
        </p:spPr>
      </p:pic>
      <p:pic>
        <p:nvPicPr>
          <p:cNvPr id="12" name="Picture 11" descr="schol_01_hub_cle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1143000"/>
            <a:ext cx="5349240" cy="2331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3502152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F172A"/>
                </a:solidFill>
                <a:latin typeface="Times New Roman"/>
              </a:rPr>
              <a:t>🏆 10th &amp; Inter Scholarships Hub (Verified Govt DBT Schemes)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502152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F172A"/>
                </a:solidFill>
                <a:latin typeface="Times New Roman"/>
              </a:rPr>
              <a:t>🧭 Career Guidance Hub (3-View Switcher &amp; Roadmaps)</a:t>
            </a:r>
          </a:p>
        </p:txBody>
      </p:sp>
      <p:pic>
        <p:nvPicPr>
          <p:cNvPr id="15" name="Picture 14" descr="schol_03_checker_result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3931920"/>
            <a:ext cx="5349240" cy="2331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6291072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F172A"/>
                </a:solidFill>
                <a:latin typeface="Times New Roman"/>
              </a:rPr>
              <a:t>🎯 30-Sec Eligibility Checker (5 Schemes Matched)</a:t>
            </a:r>
          </a:p>
        </p:txBody>
      </p:sp>
      <p:pic>
        <p:nvPicPr>
          <p:cNvPr id="17" name="Picture 16" descr="digital_01_skills_al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3640" y="3931920"/>
            <a:ext cx="5349240" cy="23317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63640" y="6291072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F172A"/>
                </a:solidFill>
                <a:latin typeface="Times New Roman"/>
              </a:rPr>
              <a:t>🛡️ Digital Literacy Hub (Essential Skills &amp; Scam Shield)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Impact Assessment</a:t>
            </a: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Impact Assessment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Impact Assessment</a:t>
            </a: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Impact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475569"/>
                </a:solidFill>
                <a:latin typeface="Times New Roman"/>
              </a:rPr>
              <a:t>Social, technological, and community impact across rural student populations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Rounded Rectangle 9001"/>
          <p:cNvSpPr/>
          <p:nvPr/>
        </p:nvSpPr>
        <p:spPr>
          <a:xfrm>
            <a:off x="548640" y="1143000"/>
            <a:ext cx="356616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200"/>
              </a:spcAft>
            </a:pPr>
            <a:r>
              <a:rPr sz="2200" b="1" i="0">
                <a:solidFill>
                  <a:srgbClr val="C2410C"/>
                </a:solidFill>
                <a:latin typeface="Times New Roman"/>
              </a:rPr>
              <a:t>🌍  Social Impact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Bridges the rural guidance gap between private coaching and government schools.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Delivers complete vernacular equality via authentic Telugu translations.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Empowers first-generation learners to make confident educational choices.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Fosters early female education via dedicated girls' scholarship tracks.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4297680" y="1143000"/>
            <a:ext cx="356616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200"/>
              </a:spcAft>
            </a:pPr>
            <a:r>
              <a:rPr sz="2200" b="1" i="0">
                <a:solidFill>
                  <a:srgbClr val="C2410C"/>
                </a:solidFill>
                <a:latin typeface="Times New Roman"/>
              </a:rPr>
              <a:t>⚙️  Technological Impact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Lightweight architecture (&lt;450 KB) boots in under 1.2s on 3G mobile networks.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Zero-framework Vanilla JS eliminates 300KB+ of parser freeze on budget phones.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Exclusive single-view switcher prevents visual overwhelm and cognitive fatigue.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PWA service worker caches essential links and documents for offline access.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8046720" y="1143000"/>
            <a:ext cx="356616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200"/>
              </a:spcAft>
            </a:pPr>
            <a:r>
              <a:rPr sz="2200" b="1" i="0">
                <a:solidFill>
                  <a:srgbClr val="C2410C"/>
                </a:solidFill>
                <a:latin typeface="Times New Roman"/>
              </a:rPr>
              <a:t>💰  Community &amp; Economic Impact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Helps rural families claim ₹10,000–₹50,000+ in annual government DBT scholarships.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Eliminates unnecessary cyber café commission fees for basic form submissions.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Broadens career visibility beyond traditional engineering and medical degrees.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• 100% free forever with no registration, no ads, and zero monetization.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Challenges Faced</a:t>
            </a: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Challenges Faced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Challenges Faced</a:t>
            </a: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Challenges Faced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475569"/>
                </a:solidFill>
                <a:latin typeface="Times New Roman"/>
              </a:rPr>
              <a:t>Key obstacles encountered during development and how each was resolved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Rounded Rectangle 9001"/>
          <p:cNvSpPr/>
          <p:nvPr/>
        </p:nvSpPr>
        <p:spPr>
          <a:xfrm>
            <a:off x="548640" y="1143000"/>
            <a:ext cx="534924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C2410C"/>
                </a:solidFill>
                <a:latin typeface="Times New Roman"/>
              </a:rPr>
              <a:t>1. Statutory Data Verification</a:t>
            </a:r>
          </a:p>
          <a:p>
            <a:pPr>
              <a:spcAft>
                <a:spcPts val="400"/>
              </a:spcAft>
            </a:pPr>
            <a:r>
              <a:rPr sz="1900" b="1" i="0">
                <a:solidFill>
                  <a:srgbClr val="EF4444"/>
                </a:solidFill>
                <a:latin typeface="Times New Roman"/>
              </a:rPr>
              <a:t>⚠ Challenge: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Navigating scattered, conflicting government circulars with no public REST APIs.</a:t>
            </a:r>
          </a:p>
          <a:p>
            <a:pPr>
              <a:spcAft>
                <a:spcPts val="0"/>
              </a:spcAft>
            </a:pPr>
            <a:r>
              <a:rPr sz="1900" b="1" i="0">
                <a:solidFill>
                  <a:srgbClr val="10B981"/>
                </a:solidFill>
                <a:latin typeface="Times New Roman"/>
              </a:rPr>
              <a:t>✅ Solution: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Hand-curated and cross-verified eligibility rules directly against official State Gazettes (AP G.O. Ms. No. 77) and DBT guidelines.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6263640" y="1143000"/>
            <a:ext cx="534924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C2410C"/>
                </a:solidFill>
                <a:latin typeface="Times New Roman"/>
              </a:rPr>
              <a:t>2. Cognitive Clutter Elimination</a:t>
            </a:r>
          </a:p>
          <a:p>
            <a:pPr>
              <a:spcAft>
                <a:spcPts val="400"/>
              </a:spcAft>
            </a:pPr>
            <a:r>
              <a:rPr sz="1900" b="1" i="0">
                <a:solidFill>
                  <a:srgbClr val="EF4444"/>
                </a:solidFill>
                <a:latin typeface="Times New Roman"/>
              </a:rPr>
              <a:t>⚠ Challenge: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Presenting vast amounts of roadmaps and resources without overwhelming school students.</a:t>
            </a:r>
          </a:p>
          <a:p>
            <a:pPr>
              <a:spcAft>
                <a:spcPts val="0"/>
              </a:spcAft>
            </a:pPr>
            <a:r>
              <a:rPr sz="1900" b="1" i="0">
                <a:solidFill>
                  <a:srgbClr val="10B981"/>
                </a:solidFill>
                <a:latin typeface="Times New Roman"/>
              </a:rPr>
              <a:t>✅ Solution: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Engineered an 'Exclusive Single-View Switcher' where selecting one mode hides all others, keeping interfaces bite-sized.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48640" y="3886200"/>
            <a:ext cx="534924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C2410C"/>
                </a:solidFill>
                <a:latin typeface="Times New Roman"/>
              </a:rPr>
              <a:t>3. Low-Bandwidth Performance</a:t>
            </a:r>
          </a:p>
          <a:p>
            <a:pPr>
              <a:spcAft>
                <a:spcPts val="400"/>
              </a:spcAft>
            </a:pPr>
            <a:r>
              <a:rPr sz="1900" b="1" i="0">
                <a:solidFill>
                  <a:srgbClr val="EF4444"/>
                </a:solidFill>
                <a:latin typeface="Times New Roman"/>
              </a:rPr>
              <a:t>⚠ Challenge: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Heavy frontend frameworks (React/Vue) stalling on low-cost Android phones on village 3G.</a:t>
            </a:r>
          </a:p>
          <a:p>
            <a:pPr>
              <a:spcAft>
                <a:spcPts val="0"/>
              </a:spcAft>
            </a:pPr>
            <a:r>
              <a:rPr sz="1900" b="1" i="0">
                <a:solidFill>
                  <a:srgbClr val="10B981"/>
                </a:solidFill>
                <a:latin typeface="Times New Roman"/>
              </a:rPr>
              <a:t>✅ Solution: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Built entirely with modular Vanilla JS and CSS custom properties, achieving sub-1.2s loads on mobile.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6263640" y="3886200"/>
            <a:ext cx="534924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C2410C"/>
                </a:solidFill>
                <a:latin typeface="Times New Roman"/>
              </a:rPr>
              <a:t>4. Authentic Vernacular Translation</a:t>
            </a:r>
          </a:p>
          <a:p>
            <a:pPr>
              <a:spcAft>
                <a:spcPts val="400"/>
              </a:spcAft>
            </a:pPr>
            <a:r>
              <a:rPr sz="1900" b="1" i="0">
                <a:solidFill>
                  <a:srgbClr val="EF4444"/>
                </a:solidFill>
                <a:latin typeface="Times New Roman"/>
              </a:rPr>
              <a:t>⚠ Challenge: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Automated machine translation tools produced unnatural and confusing Telugu educational terms.</a:t>
            </a:r>
          </a:p>
          <a:p>
            <a:pPr>
              <a:spcAft>
                <a:spcPts val="0"/>
              </a:spcAft>
            </a:pPr>
            <a:r>
              <a:rPr sz="1900" b="1" i="0">
                <a:solidFill>
                  <a:srgbClr val="10B981"/>
                </a:solidFill>
                <a:latin typeface="Times New Roman"/>
              </a:rPr>
              <a:t>✅ Solution: </a:t>
            </a:r>
            <a:r>
              <a:rPr sz="1900" b="0" i="0">
                <a:solidFill>
                  <a:srgbClr val="0F172A"/>
                </a:solidFill>
                <a:latin typeface="Times New Roman"/>
              </a:rPr>
              <a:t>Created hand-crafted bilingual JSON dictionaries with verified, natural Telugu educational terminology.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Conclusion</a:t>
            </a: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Conclusion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Conclusion</a:t>
            </a: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475569"/>
                </a:solidFill>
                <a:latin typeface="Times New Roman"/>
              </a:rPr>
              <a:t>What VidyaUday proves and what it delivers for rural students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TextBox 9001"/>
          <p:cNvSpPr txBox="1"/>
          <p:nvPr/>
        </p:nvSpPr>
        <p:spPr>
          <a:xfrm>
            <a:off x="548640" y="1143000"/>
            <a:ext cx="11064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 b="1" i="0">
                <a:solidFill>
                  <a:srgbClr val="C2410C"/>
                </a:solidFill>
                <a:latin typeface="Times New Roman"/>
              </a:rPr>
              <a:t>• Unified Guidance Ecosystem: </a:t>
            </a:r>
            <a:r>
              <a:rPr sz="2100" b="0" i="0">
                <a:solidFill>
                  <a:srgbClr val="0F172A"/>
                </a:solidFill>
                <a:latin typeface="Times New Roman"/>
              </a:rPr>
              <a:t>Successfully integrated AI study tools, career roadmaps, board textbooks, and scholarships onto one seamless platform.</a:t>
            </a:r>
          </a:p>
          <a:p>
            <a:pPr>
              <a:spcAft>
                <a:spcPts val="1000"/>
              </a:spcAft>
            </a:pPr>
            <a:r>
              <a:rPr sz="2200" b="1" i="0">
                <a:solidFill>
                  <a:srgbClr val="C2410C"/>
                </a:solidFill>
                <a:latin typeface="Times New Roman"/>
              </a:rPr>
              <a:t>• Linguistic Equity: </a:t>
            </a:r>
            <a:r>
              <a:rPr sz="2100" b="0" i="0">
                <a:solidFill>
                  <a:srgbClr val="0F172A"/>
                </a:solidFill>
                <a:latin typeface="Times New Roman"/>
              </a:rPr>
              <a:t>Delivered 100% authentic bilingual parity (English + Telugu), ensuring language is never an obstacle to quality education.</a:t>
            </a:r>
          </a:p>
          <a:p>
            <a:pPr>
              <a:spcAft>
                <a:spcPts val="1000"/>
              </a:spcAft>
            </a:pPr>
            <a:r>
              <a:rPr sz="2200" b="1" i="0">
                <a:solidFill>
                  <a:srgbClr val="C2410C"/>
                </a:solidFill>
                <a:latin typeface="Times New Roman"/>
              </a:rPr>
              <a:t>• High-Performance Engineering: </a:t>
            </a:r>
            <a:r>
              <a:rPr sz="2100" b="0" i="0">
                <a:solidFill>
                  <a:srgbClr val="0F172A"/>
                </a:solidFill>
                <a:latin typeface="Times New Roman"/>
              </a:rPr>
              <a:t>Proved that a clean Vanilla JS architecture outperforms heavy frameworks for rural low-bandwidth users.</a:t>
            </a:r>
          </a:p>
          <a:p>
            <a:pPr>
              <a:spcAft>
                <a:spcPts val="1000"/>
              </a:spcAft>
            </a:pPr>
            <a:r>
              <a:rPr sz="2200" b="1" i="0">
                <a:solidFill>
                  <a:srgbClr val="C2410C"/>
                </a:solidFill>
                <a:latin typeface="Times New Roman"/>
              </a:rPr>
              <a:t>• Zero Financial Barrier: </a:t>
            </a:r>
            <a:r>
              <a:rPr sz="2100" b="0" i="0">
                <a:solidFill>
                  <a:srgbClr val="0F172A"/>
                </a:solidFill>
                <a:latin typeface="Times New Roman"/>
              </a:rPr>
              <a:t>Operates completely free of cost with zero login barriers, zero ads, and strict respect for user privacy.</a:t>
            </a:r>
          </a:p>
          <a:p>
            <a:pPr>
              <a:spcAft>
                <a:spcPts val="1000"/>
              </a:spcAft>
            </a:pPr>
            <a:r>
              <a:rPr sz="2200" b="1" i="0">
                <a:solidFill>
                  <a:srgbClr val="C2410C"/>
                </a:solidFill>
                <a:latin typeface="Times New Roman"/>
              </a:rPr>
              <a:t>• Measurable Community Impact: </a:t>
            </a:r>
            <a:r>
              <a:rPr sz="2100" b="0" i="0">
                <a:solidFill>
                  <a:srgbClr val="0F172A"/>
                </a:solidFill>
                <a:latin typeface="Times New Roman"/>
              </a:rPr>
              <a:t>Transforms information fragmentation into structured confidence, enabling students to claim legal government aid.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48640" y="5166360"/>
            <a:ext cx="11064240" cy="12344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92400E"/>
                </a:solidFill>
                <a:latin typeface="Times New Roman"/>
              </a:rPr>
              <a:t>This project demonstrates how purposeful software engineering can democratize educational opportunity and empower every rural student to achieve their full potential.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Future Work</a:t>
            </a: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Future Work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Future Work</a:t>
            </a: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475569"/>
                </a:solidFill>
                <a:latin typeface="Times New Roman"/>
              </a:rPr>
              <a:t>Planned enhancements to scale VidyaUday across Andhra Pradesh &amp; Telangana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Rounded Rectangle 9001"/>
          <p:cNvSpPr/>
          <p:nvPr/>
        </p:nvSpPr>
        <p:spPr>
          <a:xfrm>
            <a:off x="548640" y="1143000"/>
            <a:ext cx="534924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C2410C"/>
                </a:solidFill>
                <a:latin typeface="Times New Roman"/>
              </a:rPr>
              <a:t>📲 Automated WhatsApp &amp; SMS Reminders</a:t>
            </a:r>
          </a:p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Integrate opt-in SMS/WhatsApp alerts notifying rural parents and students 7 days before major scholarship portal closures (AP ePASS, NSP, NMMS).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6263640" y="1143000"/>
            <a:ext cx="534924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C2410C"/>
                </a:solidFill>
                <a:latin typeface="Times New Roman"/>
              </a:rPr>
              <a:t>🎙️ Vernacular Voice AI Assistant</a:t>
            </a:r>
          </a:p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Implement Web Speech interactive voice queries in Telugu, allowing students with lower reading fluency to ask questions orally and listen to spoken answers.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48640" y="3886200"/>
            <a:ext cx="534924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C2410C"/>
                </a:solidFill>
                <a:latin typeface="Times New Roman"/>
              </a:rPr>
              <a:t>📦 Downloadable Offline Study Packs</a:t>
            </a:r>
          </a:p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Build one-click zipped revision packages containing formula cheat sheets, blueprints, and 5-year solved board papers for complete offline village study.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6263640" y="3886200"/>
            <a:ext cx="534924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C2410C"/>
                </a:solidFill>
                <a:latin typeface="Times New Roman"/>
              </a:rPr>
              <a:t>🤝 Rural Peer Mentorship Network</a:t>
            </a:r>
          </a:p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0F172A"/>
                </a:solidFill>
                <a:latin typeface="Times New Roman"/>
              </a:rPr>
              <a:t>Create an anonymous, verified mentorship channel connecting high school students with rural alumni currently excelling in government engineering &amp; medical colleges.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References</a:t>
            </a: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References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References</a:t>
            </a: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F172A"/>
                </a:solidFill>
                <a:latin typeface="Times New Roman"/>
              </a:rPr>
              <a:t>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475569"/>
                </a:solidFill>
                <a:latin typeface="Times New Roman"/>
              </a:rPr>
              <a:t>Statutory gazettes, official portals, and academic resources consulted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TextBox 9001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F172A"/>
                </a:solidFill>
                <a:latin typeface="Times New Roman"/>
              </a:rPr>
              <a:t>[1] Government of Andhra Pradesh, 'Jnanabhumi Post-Matric Scholarship Scheme Guidelines,' G.O. Ms. No. 77 &amp; 115, Social Welfare Dept., 2024. Available: https://jnanabhumi.ap.gov.in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F172A"/>
                </a:solidFill>
                <a:latin typeface="Times New Roman"/>
              </a:rPr>
              <a:t>[2] Government of Telangana, 'Telangana ePASS Electronic Payment and Application System,' Centre for Good Governance, 2024. Available: https://telanganaepass.cgg.gov.in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F172A"/>
                </a:solidFill>
                <a:latin typeface="Times New Roman"/>
              </a:rPr>
              <a:t>[3] Ministry of Education, Government of India, 'National Means-cum-Merit Scholarship Scheme (NMMSS),' 2024. Available: https://scholarships.gov.in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F172A"/>
                </a:solidFill>
                <a:latin typeface="Times New Roman"/>
              </a:rPr>
              <a:t>[4] All India Council for Technical Education (AICTE), 'Pragati &amp; Saksham Scholarship Guidelines,' 2024. Available: https://www.aicte-india.org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F172A"/>
                </a:solidFill>
                <a:latin typeface="Times New Roman"/>
              </a:rPr>
              <a:t>[5] State Council of Educational Research and Training (SCERT AP &amp; TS), 'Class 10 and Intermediate Curriculum Textbooks &amp; Model Papers,' 2024.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F172A"/>
                </a:solidFill>
                <a:latin typeface="Times New Roman"/>
              </a:rPr>
              <a:t>[6] Indian Computer Emergency Response Team (CERT-In), 'Cyber Security Guidelines for Students &amp; Citizens,' MeitY, 2024. Available: https://www.cert-in.org.in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F172A"/>
                </a:solidFill>
                <a:latin typeface="Times New Roman"/>
              </a:rPr>
              <a:t>[7] National Cyber Crime Reporting Portal, Ministry of Home Affairs, Government of India, 2024. Available: https://cybercrime.gov.in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F172A"/>
                </a:solidFill>
                <a:latin typeface="Times New Roman"/>
              </a:rPr>
              <a:t>[8] VidyaUday Production Repository and Live Deployment, GitHub Pages, 2026. Available: https://ramanakalisetty638-web.github.io/VidyaUday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3440</Words>
  <Application>Microsoft Office PowerPoint</Application>
  <PresentationFormat>Widescreen</PresentationFormat>
  <Paragraphs>444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Times New Roman</vt:lpstr>
      <vt:lpstr>Office Theme</vt:lpstr>
      <vt:lpstr>Community Project  Branch: CSE-CYBERSECURITY &amp; INTERNET OF THINGS(ICB) Department: Data Engineering   Semester: V    Section: A          Regulation: R24             Course Code: R24MSCSP001                Community Project  Branch: CSE-CYBERSECURITY &amp; INTERNET OF THINGS(ICB)  Department: Data Engineering  Semester: V    Section: A          Regulation: R24             Course Code: R24MSCSP001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charan teja</dc:creator>
  <cp:keywords/>
  <dc:description>generated using python-pptx</dc:description>
  <cp:lastModifiedBy>charan teja</cp:lastModifiedBy>
  <cp:revision>4</cp:revision>
  <dcterms:created xsi:type="dcterms:W3CDTF">2013-01-27T09:14:16Z</dcterms:created>
  <dcterms:modified xsi:type="dcterms:W3CDTF">2026-07-25T02:26:38Z</dcterms:modified>
  <cp:category/>
</cp:coreProperties>
</file>